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Playfair Display"/>
      <p:regular r:id="rId14"/>
      <p:bold r:id="rId15"/>
      <p:italic r:id="rId16"/>
      <p:boldItalic r:id="rId17"/>
    </p:embeddedFont>
    <p:embeddedFont>
      <p:font typeface="Montserrat"/>
      <p:regular r:id="rId18"/>
      <p:bold r:id="rId19"/>
      <p:italic r:id="rId20"/>
      <p:boldItalic r:id="rId21"/>
    </p:embeddedFont>
    <p:embeddedFont>
      <p:font typeface="Oswald"/>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italic.fntdata"/><Relationship Id="rId11" Type="http://schemas.openxmlformats.org/officeDocument/2006/relationships/slide" Target="slides/slide6.xml"/><Relationship Id="rId22" Type="http://schemas.openxmlformats.org/officeDocument/2006/relationships/font" Target="fonts/Oswald-regular.fntdata"/><Relationship Id="rId10" Type="http://schemas.openxmlformats.org/officeDocument/2006/relationships/slide" Target="slides/slide5.xml"/><Relationship Id="rId21" Type="http://schemas.openxmlformats.org/officeDocument/2006/relationships/font" Target="fonts/Montserrat-boldItalic.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Oswa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layfairDisplay-bold.fntdata"/><Relationship Id="rId14" Type="http://schemas.openxmlformats.org/officeDocument/2006/relationships/font" Target="fonts/PlayfairDisplay-regular.fntdata"/><Relationship Id="rId17" Type="http://schemas.openxmlformats.org/officeDocument/2006/relationships/font" Target="fonts/PlayfairDisplay-boldItalic.fntdata"/><Relationship Id="rId16" Type="http://schemas.openxmlformats.org/officeDocument/2006/relationships/font" Target="fonts/PlayfairDisplay-italic.fntdata"/><Relationship Id="rId5" Type="http://schemas.openxmlformats.org/officeDocument/2006/relationships/notesMaster" Target="notesMasters/notesMaster1.xml"/><Relationship Id="rId19" Type="http://schemas.openxmlformats.org/officeDocument/2006/relationships/font" Target="fonts/Montserrat-bold.fntdata"/><Relationship Id="rId6" Type="http://schemas.openxmlformats.org/officeDocument/2006/relationships/slide" Target="slides/slide1.xml"/><Relationship Id="rId18" Type="http://schemas.openxmlformats.org/officeDocument/2006/relationships/font" Target="fonts/Montserrat-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ad366cdbd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ad366cdbd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ad372d186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ad372d186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ad372d186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ad372d186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ad372d186a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ad372d186a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ad372d186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ad372d186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ad372d186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ad372d186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ad372d186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ad372d186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358475" y="0"/>
            <a:ext cx="3853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6800"/>
              <a:buFont typeface="Playfair Display"/>
              <a:buNone/>
              <a:defRPr b="1" sz="6800">
                <a:latin typeface="Playfair Display"/>
                <a:ea typeface="Playfair Display"/>
                <a:cs typeface="Playfair Display"/>
                <a:sym typeface="Playfair Display"/>
              </a:defRPr>
            </a:lvl1pPr>
            <a:lvl2pPr lvl="1"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p:spPr>
        <p:txBody>
          <a:bodyPr anchorCtr="0" anchor="ctr" bIns="91425" lIns="91425" spcFirstLastPara="1" rIns="91425" wrap="square" tIns="91425">
            <a:normAutofit/>
          </a:bodyPr>
          <a:lstStyle>
            <a:lvl1pPr lv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 name="Google Shape;21;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highlight>
                  <a:schemeClr val="lt1"/>
                </a:highlight>
              </a:defRPr>
            </a:lvl1pPr>
            <a:lvl2pPr indent="-317500" lvl="1" marL="914400">
              <a:spcBef>
                <a:spcPts val="0"/>
              </a:spcBef>
              <a:spcAft>
                <a:spcPts val="0"/>
              </a:spcAft>
              <a:buSzPts val="1400"/>
              <a:buChar char="○"/>
              <a:defRPr>
                <a:highlight>
                  <a:schemeClr val="lt1"/>
                </a:highlight>
              </a:defRPr>
            </a:lvl2pPr>
            <a:lvl3pPr indent="-317500" lvl="2" marL="1371600">
              <a:spcBef>
                <a:spcPts val="0"/>
              </a:spcBef>
              <a:spcAft>
                <a:spcPts val="0"/>
              </a:spcAft>
              <a:buSzPts val="1400"/>
              <a:buChar char="■"/>
              <a:defRPr>
                <a:highlight>
                  <a:schemeClr val="lt1"/>
                </a:highlight>
              </a:defRPr>
            </a:lvl3pPr>
            <a:lvl4pPr indent="-317500" lvl="3" marL="1828800">
              <a:spcBef>
                <a:spcPts val="0"/>
              </a:spcBef>
              <a:spcAft>
                <a:spcPts val="0"/>
              </a:spcAft>
              <a:buSzPts val="1400"/>
              <a:buChar char="●"/>
              <a:defRPr>
                <a:highlight>
                  <a:schemeClr val="lt1"/>
                </a:highlight>
              </a:defRPr>
            </a:lvl4pPr>
            <a:lvl5pPr indent="-317500" lvl="4" marL="2286000">
              <a:spcBef>
                <a:spcPts val="0"/>
              </a:spcBef>
              <a:spcAft>
                <a:spcPts val="0"/>
              </a:spcAft>
              <a:buSzPts val="1400"/>
              <a:buChar char="○"/>
              <a:defRPr>
                <a:highlight>
                  <a:schemeClr val="lt1"/>
                </a:highlight>
              </a:defRPr>
            </a:lvl5pPr>
            <a:lvl6pPr indent="-317500" lvl="5" marL="2743200">
              <a:spcBef>
                <a:spcPts val="0"/>
              </a:spcBef>
              <a:spcAft>
                <a:spcPts val="0"/>
              </a:spcAft>
              <a:buSzPts val="1400"/>
              <a:buChar char="■"/>
              <a:defRPr>
                <a:highlight>
                  <a:schemeClr val="lt1"/>
                </a:highlight>
              </a:defRPr>
            </a:lvl6pPr>
            <a:lvl7pPr indent="-317500" lvl="6" marL="3200400">
              <a:spcBef>
                <a:spcPts val="0"/>
              </a:spcBef>
              <a:spcAft>
                <a:spcPts val="0"/>
              </a:spcAft>
              <a:buSzPts val="1400"/>
              <a:buChar char="●"/>
              <a:defRPr>
                <a:highlight>
                  <a:schemeClr val="lt1"/>
                </a:highlight>
              </a:defRPr>
            </a:lvl7pPr>
            <a:lvl8pPr indent="-317500" lvl="7" marL="3657600">
              <a:spcBef>
                <a:spcPts val="0"/>
              </a:spcBef>
              <a:spcAft>
                <a:spcPts val="0"/>
              </a:spcAft>
              <a:buSzPts val="1400"/>
              <a:buChar char="○"/>
              <a:defRPr>
                <a:highlight>
                  <a:schemeClr val="lt1"/>
                </a:highlight>
              </a:defRPr>
            </a:lvl8pPr>
            <a:lvl9pPr indent="-317500" lvl="8" marL="4114800">
              <a:spcBef>
                <a:spcPts val="0"/>
              </a:spcBef>
              <a:spcAft>
                <a:spcPts val="0"/>
              </a:spcAft>
              <a:buSzPts val="1400"/>
              <a:buChar char="■"/>
              <a:defRPr>
                <a:highlight>
                  <a:schemeClr val="lt1"/>
                </a:highlight>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highlight>
                  <a:schemeClr val="dk1"/>
                </a:highlight>
              </a:defRPr>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Font typeface="Montserrat"/>
              <a:buNone/>
              <a:defRPr sz="14000">
                <a:latin typeface="Montserrat"/>
                <a:ea typeface="Montserrat"/>
                <a:cs typeface="Montserrat"/>
                <a:sym typeface="Montserrat"/>
              </a:defRPr>
            </a:lvl1pPr>
            <a:lvl2pPr lvl="1" algn="ctr">
              <a:spcBef>
                <a:spcPts val="0"/>
              </a:spcBef>
              <a:spcAft>
                <a:spcPts val="0"/>
              </a:spcAft>
              <a:buSzPts val="14000"/>
              <a:buFont typeface="Montserrat"/>
              <a:buNone/>
              <a:defRPr sz="14000">
                <a:latin typeface="Montserrat"/>
                <a:ea typeface="Montserrat"/>
                <a:cs typeface="Montserrat"/>
                <a:sym typeface="Montserrat"/>
              </a:defRPr>
            </a:lvl2pPr>
            <a:lvl3pPr lvl="2" algn="ctr">
              <a:spcBef>
                <a:spcPts val="0"/>
              </a:spcBef>
              <a:spcAft>
                <a:spcPts val="0"/>
              </a:spcAft>
              <a:buSzPts val="14000"/>
              <a:buFont typeface="Montserrat"/>
              <a:buNone/>
              <a:defRPr sz="14000">
                <a:latin typeface="Montserrat"/>
                <a:ea typeface="Montserrat"/>
                <a:cs typeface="Montserrat"/>
                <a:sym typeface="Montserrat"/>
              </a:defRPr>
            </a:lvl3pPr>
            <a:lvl4pPr lvl="3" algn="ctr">
              <a:spcBef>
                <a:spcPts val="0"/>
              </a:spcBef>
              <a:spcAft>
                <a:spcPts val="0"/>
              </a:spcAft>
              <a:buSzPts val="14000"/>
              <a:buFont typeface="Montserrat"/>
              <a:buNone/>
              <a:defRPr sz="14000">
                <a:latin typeface="Montserrat"/>
                <a:ea typeface="Montserrat"/>
                <a:cs typeface="Montserrat"/>
                <a:sym typeface="Montserrat"/>
              </a:defRPr>
            </a:lvl4pPr>
            <a:lvl5pPr lvl="4" algn="ctr">
              <a:spcBef>
                <a:spcPts val="0"/>
              </a:spcBef>
              <a:spcAft>
                <a:spcPts val="0"/>
              </a:spcAft>
              <a:buSzPts val="14000"/>
              <a:buFont typeface="Montserrat"/>
              <a:buNone/>
              <a:defRPr sz="14000">
                <a:latin typeface="Montserrat"/>
                <a:ea typeface="Montserrat"/>
                <a:cs typeface="Montserrat"/>
                <a:sym typeface="Montserrat"/>
              </a:defRPr>
            </a:lvl5pPr>
            <a:lvl6pPr lvl="5" algn="ctr">
              <a:spcBef>
                <a:spcPts val="0"/>
              </a:spcBef>
              <a:spcAft>
                <a:spcPts val="0"/>
              </a:spcAft>
              <a:buSzPts val="14000"/>
              <a:buFont typeface="Montserrat"/>
              <a:buNone/>
              <a:defRPr sz="14000">
                <a:latin typeface="Montserrat"/>
                <a:ea typeface="Montserrat"/>
                <a:cs typeface="Montserrat"/>
                <a:sym typeface="Montserrat"/>
              </a:defRPr>
            </a:lvl6pPr>
            <a:lvl7pPr lvl="6" algn="ctr">
              <a:spcBef>
                <a:spcPts val="0"/>
              </a:spcBef>
              <a:spcAft>
                <a:spcPts val="0"/>
              </a:spcAft>
              <a:buSzPts val="14000"/>
              <a:buFont typeface="Montserrat"/>
              <a:buNone/>
              <a:defRPr sz="14000">
                <a:latin typeface="Montserrat"/>
                <a:ea typeface="Montserrat"/>
                <a:cs typeface="Montserrat"/>
                <a:sym typeface="Montserrat"/>
              </a:defRPr>
            </a:lvl7pPr>
            <a:lvl8pPr lvl="7" algn="ctr">
              <a:spcBef>
                <a:spcPts val="0"/>
              </a:spcBef>
              <a:spcAft>
                <a:spcPts val="0"/>
              </a:spcAft>
              <a:buSzPts val="14000"/>
              <a:buFont typeface="Montserrat"/>
              <a:buNone/>
              <a:defRPr sz="14000">
                <a:latin typeface="Montserrat"/>
                <a:ea typeface="Montserrat"/>
                <a:cs typeface="Montserrat"/>
                <a:sym typeface="Montserrat"/>
              </a:defRPr>
            </a:lvl8pPr>
            <a:lvl9pPr lvl="8"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highlight>
                  <a:schemeClr val="dk1"/>
                </a:highlight>
              </a:defRPr>
            </a:lvl1pPr>
            <a:lvl2pPr indent="-317500" lvl="1" marL="914400" algn="ctr">
              <a:spcBef>
                <a:spcPts val="0"/>
              </a:spcBef>
              <a:spcAft>
                <a:spcPts val="0"/>
              </a:spcAft>
              <a:buSzPts val="1400"/>
              <a:buChar char="○"/>
              <a:defRPr>
                <a:highlight>
                  <a:schemeClr val="dk1"/>
                </a:highlight>
              </a:defRPr>
            </a:lvl2pPr>
            <a:lvl3pPr indent="-317500" lvl="2" marL="1371600" algn="ctr">
              <a:spcBef>
                <a:spcPts val="0"/>
              </a:spcBef>
              <a:spcAft>
                <a:spcPts val="0"/>
              </a:spcAft>
              <a:buSzPts val="1400"/>
              <a:buChar char="■"/>
              <a:defRPr>
                <a:highlight>
                  <a:schemeClr val="dk1"/>
                </a:highlight>
              </a:defRPr>
            </a:lvl3pPr>
            <a:lvl4pPr indent="-317500" lvl="3" marL="1828800" algn="ctr">
              <a:spcBef>
                <a:spcPts val="0"/>
              </a:spcBef>
              <a:spcAft>
                <a:spcPts val="0"/>
              </a:spcAft>
              <a:buSzPts val="1400"/>
              <a:buChar char="●"/>
              <a:defRPr>
                <a:highlight>
                  <a:schemeClr val="dk1"/>
                </a:highlight>
              </a:defRPr>
            </a:lvl4pPr>
            <a:lvl5pPr indent="-317500" lvl="4" marL="2286000" algn="ctr">
              <a:spcBef>
                <a:spcPts val="0"/>
              </a:spcBef>
              <a:spcAft>
                <a:spcPts val="0"/>
              </a:spcAft>
              <a:buSzPts val="1400"/>
              <a:buChar char="○"/>
              <a:defRPr>
                <a:highlight>
                  <a:schemeClr val="dk1"/>
                </a:highlight>
              </a:defRPr>
            </a:lvl5pPr>
            <a:lvl6pPr indent="-317500" lvl="5" marL="2743200" algn="ctr">
              <a:spcBef>
                <a:spcPts val="0"/>
              </a:spcBef>
              <a:spcAft>
                <a:spcPts val="0"/>
              </a:spcAft>
              <a:buSzPts val="1400"/>
              <a:buChar char="■"/>
              <a:defRPr>
                <a:highlight>
                  <a:schemeClr val="dk1"/>
                </a:highlight>
              </a:defRPr>
            </a:lvl6pPr>
            <a:lvl7pPr indent="-317500" lvl="6" marL="3200400" algn="ctr">
              <a:spcBef>
                <a:spcPts val="0"/>
              </a:spcBef>
              <a:spcAft>
                <a:spcPts val="0"/>
              </a:spcAft>
              <a:buSzPts val="1400"/>
              <a:buChar char="●"/>
              <a:defRPr>
                <a:highlight>
                  <a:schemeClr val="dk1"/>
                </a:highlight>
              </a:defRPr>
            </a:lvl7pPr>
            <a:lvl8pPr indent="-317500" lvl="7" marL="3657600" algn="ctr">
              <a:spcBef>
                <a:spcPts val="0"/>
              </a:spcBef>
              <a:spcAft>
                <a:spcPts val="0"/>
              </a:spcAft>
              <a:buSzPts val="1400"/>
              <a:buChar char="○"/>
              <a:defRPr>
                <a:highlight>
                  <a:schemeClr val="dk1"/>
                </a:highlight>
              </a:defRPr>
            </a:lvl8pPr>
            <a:lvl9pPr indent="-317500" lvl="8" marL="4114800" algn="ctr">
              <a:spcBef>
                <a:spcPts val="0"/>
              </a:spcBef>
              <a:spcAft>
                <a:spcPts val="0"/>
              </a:spcAft>
              <a:buSzPts val="1400"/>
              <a:buChar char="■"/>
              <a:defRPr>
                <a:highlight>
                  <a:schemeClr val="dk1"/>
                </a:highlight>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layfair Display"/>
              <a:buChar char="●"/>
              <a:defRPr sz="1800">
                <a:solidFill>
                  <a:schemeClr val="dk2"/>
                </a:solidFill>
                <a:latin typeface="Playfair Display"/>
                <a:ea typeface="Playfair Display"/>
                <a:cs typeface="Playfair Display"/>
                <a:sym typeface="Playfair Display"/>
              </a:defRPr>
            </a:lvl1pPr>
            <a:lvl2pPr indent="-317500" lvl="1" marL="914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2pPr>
            <a:lvl3pPr indent="-317500" lvl="2" marL="1371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3pPr>
            <a:lvl4pPr indent="-317500" lvl="3" marL="1828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4pPr>
            <a:lvl5pPr indent="-317500" lvl="4" marL="22860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5pPr>
            <a:lvl6pPr indent="-317500" lvl="5" marL="27432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6pPr>
            <a:lvl7pPr indent="-317500" lvl="6" marL="3200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7pPr>
            <a:lvl8pPr indent="-317500" lvl="7" marL="3657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8pPr>
            <a:lvl9pPr indent="-317500" lvl="8" marL="4114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layfair Display"/>
                <a:ea typeface="Playfair Display"/>
                <a:cs typeface="Playfair Display"/>
                <a:sym typeface="Playfair Display"/>
              </a:defRPr>
            </a:lvl1pPr>
            <a:lvl2pPr lvl="1" algn="r">
              <a:buNone/>
              <a:defRPr sz="1000">
                <a:solidFill>
                  <a:schemeClr val="dk2"/>
                </a:solidFill>
                <a:latin typeface="Playfair Display"/>
                <a:ea typeface="Playfair Display"/>
                <a:cs typeface="Playfair Display"/>
                <a:sym typeface="Playfair Display"/>
              </a:defRPr>
            </a:lvl2pPr>
            <a:lvl3pPr lvl="2" algn="r">
              <a:buNone/>
              <a:defRPr sz="1000">
                <a:solidFill>
                  <a:schemeClr val="dk2"/>
                </a:solidFill>
                <a:latin typeface="Playfair Display"/>
                <a:ea typeface="Playfair Display"/>
                <a:cs typeface="Playfair Display"/>
                <a:sym typeface="Playfair Display"/>
              </a:defRPr>
            </a:lvl3pPr>
            <a:lvl4pPr lvl="3" algn="r">
              <a:buNone/>
              <a:defRPr sz="1000">
                <a:solidFill>
                  <a:schemeClr val="dk2"/>
                </a:solidFill>
                <a:latin typeface="Playfair Display"/>
                <a:ea typeface="Playfair Display"/>
                <a:cs typeface="Playfair Display"/>
                <a:sym typeface="Playfair Display"/>
              </a:defRPr>
            </a:lvl4pPr>
            <a:lvl5pPr lvl="4" algn="r">
              <a:buNone/>
              <a:defRPr sz="1000">
                <a:solidFill>
                  <a:schemeClr val="dk2"/>
                </a:solidFill>
                <a:latin typeface="Playfair Display"/>
                <a:ea typeface="Playfair Display"/>
                <a:cs typeface="Playfair Display"/>
                <a:sym typeface="Playfair Display"/>
              </a:defRPr>
            </a:lvl5pPr>
            <a:lvl6pPr lvl="5" algn="r">
              <a:buNone/>
              <a:defRPr sz="1000">
                <a:solidFill>
                  <a:schemeClr val="dk2"/>
                </a:solidFill>
                <a:latin typeface="Playfair Display"/>
                <a:ea typeface="Playfair Display"/>
                <a:cs typeface="Playfair Display"/>
                <a:sym typeface="Playfair Display"/>
              </a:defRPr>
            </a:lvl6pPr>
            <a:lvl7pPr lvl="6" algn="r">
              <a:buNone/>
              <a:defRPr sz="1000">
                <a:solidFill>
                  <a:schemeClr val="dk2"/>
                </a:solidFill>
                <a:latin typeface="Playfair Display"/>
                <a:ea typeface="Playfair Display"/>
                <a:cs typeface="Playfair Display"/>
                <a:sym typeface="Playfair Display"/>
              </a:defRPr>
            </a:lvl7pPr>
            <a:lvl8pPr lvl="7" algn="r">
              <a:buNone/>
              <a:defRPr sz="1000">
                <a:solidFill>
                  <a:schemeClr val="dk2"/>
                </a:solidFill>
                <a:latin typeface="Playfair Display"/>
                <a:ea typeface="Playfair Display"/>
                <a:cs typeface="Playfair Display"/>
                <a:sym typeface="Playfair Display"/>
              </a:defRPr>
            </a:lvl8pPr>
            <a:lvl9pPr lvl="8"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44250" y="12094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SzPts val="990"/>
              <a:buNone/>
            </a:pPr>
            <a:r>
              <a:rPr lang="en-GB" sz="5020"/>
              <a:t>Mini Project</a:t>
            </a:r>
            <a:endParaRPr sz="5020"/>
          </a:p>
          <a:p>
            <a:pPr indent="0" lvl="0" marL="0" rtl="0" algn="ctr">
              <a:spcBef>
                <a:spcPts val="0"/>
              </a:spcBef>
              <a:spcAft>
                <a:spcPts val="0"/>
              </a:spcAft>
              <a:buSzPts val="990"/>
              <a:buNone/>
            </a:pPr>
            <a:r>
              <a:rPr lang="en-GB" sz="2520"/>
              <a:t>32112 - Vishal Bhokre</a:t>
            </a:r>
            <a:endParaRPr sz="2520"/>
          </a:p>
          <a:p>
            <a:pPr indent="0" lvl="0" marL="0" rtl="0" algn="ctr">
              <a:spcBef>
                <a:spcPts val="0"/>
              </a:spcBef>
              <a:spcAft>
                <a:spcPts val="0"/>
              </a:spcAft>
              <a:buSzPts val="990"/>
              <a:buNone/>
            </a:pPr>
            <a:r>
              <a:rPr lang="en-GB" sz="2520"/>
              <a:t>32113 - Vedant Butala</a:t>
            </a:r>
            <a:endParaRPr sz="2520"/>
          </a:p>
          <a:p>
            <a:pPr indent="0" lvl="0" marL="0" rtl="0" algn="ctr">
              <a:spcBef>
                <a:spcPts val="0"/>
              </a:spcBef>
              <a:spcAft>
                <a:spcPts val="0"/>
              </a:spcAft>
              <a:buSzPts val="990"/>
              <a:buNone/>
            </a:pPr>
            <a:r>
              <a:rPr lang="en-GB" sz="2520"/>
              <a:t>32134 - Sumedh Kasat</a:t>
            </a:r>
            <a:endParaRPr sz="2520"/>
          </a:p>
        </p:txBody>
      </p:sp>
      <p:sp>
        <p:nvSpPr>
          <p:cNvPr id="59" name="Google Shape;59;p13"/>
          <p:cNvSpPr txBox="1"/>
          <p:nvPr>
            <p:ph idx="1" type="subTitle"/>
          </p:nvPr>
        </p:nvSpPr>
        <p:spPr>
          <a:xfrm>
            <a:off x="2116950" y="3356250"/>
            <a:ext cx="4910100" cy="577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Project Ideas Presentation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44250" y="282850"/>
            <a:ext cx="8455500" cy="630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sz="2500"/>
              <a:t>1] Mechanically </a:t>
            </a:r>
            <a:r>
              <a:rPr lang="en-GB" sz="2500"/>
              <a:t>Controlled</a:t>
            </a:r>
            <a:r>
              <a:rPr lang="en-GB" sz="2500"/>
              <a:t> Robotic Arm</a:t>
            </a:r>
            <a:endParaRPr sz="2500"/>
          </a:p>
        </p:txBody>
      </p:sp>
      <p:pic>
        <p:nvPicPr>
          <p:cNvPr id="65" name="Google Shape;65;p14"/>
          <p:cNvPicPr preferRelativeResize="0"/>
          <p:nvPr/>
        </p:nvPicPr>
        <p:blipFill>
          <a:blip r:embed="rId3">
            <a:alphaModFix/>
          </a:blip>
          <a:stretch>
            <a:fillRect/>
          </a:stretch>
        </p:blipFill>
        <p:spPr>
          <a:xfrm>
            <a:off x="793000" y="1075988"/>
            <a:ext cx="3671451" cy="2447625"/>
          </a:xfrm>
          <a:prstGeom prst="rect">
            <a:avLst/>
          </a:prstGeom>
          <a:noFill/>
          <a:ln>
            <a:noFill/>
          </a:ln>
        </p:spPr>
      </p:pic>
      <p:pic>
        <p:nvPicPr>
          <p:cNvPr id="66" name="Google Shape;66;p14"/>
          <p:cNvPicPr preferRelativeResize="0"/>
          <p:nvPr/>
        </p:nvPicPr>
        <p:blipFill>
          <a:blip r:embed="rId4">
            <a:alphaModFix/>
          </a:blip>
          <a:stretch>
            <a:fillRect/>
          </a:stretch>
        </p:blipFill>
        <p:spPr>
          <a:xfrm>
            <a:off x="4654525" y="1085825"/>
            <a:ext cx="3671451" cy="2427950"/>
          </a:xfrm>
          <a:prstGeom prst="rect">
            <a:avLst/>
          </a:prstGeom>
          <a:noFill/>
          <a:ln>
            <a:noFill/>
          </a:ln>
        </p:spPr>
      </p:pic>
      <p:sp>
        <p:nvSpPr>
          <p:cNvPr id="67" name="Google Shape;67;p14"/>
          <p:cNvSpPr txBox="1"/>
          <p:nvPr/>
        </p:nvSpPr>
        <p:spPr>
          <a:xfrm>
            <a:off x="1017400" y="4069575"/>
            <a:ext cx="4267500" cy="42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Playfair Display"/>
              <a:ea typeface="Playfair Display"/>
              <a:cs typeface="Playfair Display"/>
              <a:sym typeface="Playfair Display"/>
            </a:endParaRPr>
          </a:p>
        </p:txBody>
      </p:sp>
      <p:sp>
        <p:nvSpPr>
          <p:cNvPr id="68" name="Google Shape;68;p14"/>
          <p:cNvSpPr txBox="1"/>
          <p:nvPr/>
        </p:nvSpPr>
        <p:spPr>
          <a:xfrm>
            <a:off x="805500" y="3824425"/>
            <a:ext cx="7533000" cy="104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lt1"/>
                </a:solidFill>
                <a:latin typeface="Playfair Display"/>
                <a:ea typeface="Playfair Display"/>
                <a:cs typeface="Playfair Display"/>
                <a:sym typeface="Playfair Display"/>
              </a:rPr>
              <a:t>A robotic arm is a programmable mechanical arm, typically with similar functions to a human arm. It's often used in industrial settings or for research purposes.</a:t>
            </a:r>
            <a:endParaRPr sz="1800">
              <a:solidFill>
                <a:schemeClr val="lt1"/>
              </a:solidFill>
              <a:latin typeface="Playfair Display"/>
              <a:ea typeface="Playfair Display"/>
              <a:cs typeface="Playfair Display"/>
              <a:sym typeface="Playfair Displ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44250" y="409025"/>
            <a:ext cx="8455500" cy="42744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Clr>
                <a:schemeClr val="dk2"/>
              </a:buClr>
              <a:buSzPts val="990"/>
              <a:buFont typeface="Arial"/>
              <a:buNone/>
            </a:pPr>
            <a:r>
              <a:rPr lang="en-GB" sz="1640" u="sng"/>
              <a:t>Types of robotic arms:</a:t>
            </a:r>
            <a:endParaRPr sz="1640" u="sng"/>
          </a:p>
          <a:p>
            <a:pPr indent="0" lvl="0" marL="0" rtl="0" algn="just">
              <a:spcBef>
                <a:spcPts val="0"/>
              </a:spcBef>
              <a:spcAft>
                <a:spcPts val="0"/>
              </a:spcAft>
              <a:buClr>
                <a:schemeClr val="dk2"/>
              </a:buClr>
              <a:buSzPts val="990"/>
              <a:buFont typeface="Arial"/>
              <a:buNone/>
            </a:pPr>
            <a:r>
              <a:rPr lang="en-GB" sz="1640"/>
              <a:t>Serial: These arms have a series of links connected in a chain, like a human arm. They offer the most flexibility but can be complex to control.</a:t>
            </a:r>
            <a:endParaRPr sz="1640"/>
          </a:p>
          <a:p>
            <a:pPr indent="0" lvl="0" marL="0" rtl="0" algn="just">
              <a:spcBef>
                <a:spcPts val="0"/>
              </a:spcBef>
              <a:spcAft>
                <a:spcPts val="0"/>
              </a:spcAft>
              <a:buClr>
                <a:schemeClr val="dk2"/>
              </a:buClr>
              <a:buSzPts val="990"/>
              <a:buFont typeface="Arial"/>
              <a:buNone/>
            </a:pPr>
            <a:r>
              <a:rPr lang="en-GB" sz="1640"/>
              <a:t>Parallel: These arms have multiple limbs that move together, like a scissor lift. They are simpler to control but offer less flexibility.</a:t>
            </a:r>
            <a:endParaRPr sz="1640"/>
          </a:p>
          <a:p>
            <a:pPr indent="0" lvl="0" marL="0" rtl="0" algn="just">
              <a:spcBef>
                <a:spcPts val="0"/>
              </a:spcBef>
              <a:spcAft>
                <a:spcPts val="0"/>
              </a:spcAft>
              <a:buSzPts val="990"/>
              <a:buNone/>
            </a:pPr>
            <a:r>
              <a:rPr lang="en-GB" sz="1640"/>
              <a:t>Cartesian: These arms move in three linear axes (X, Y, and Z), like a gantry crane. They are good for tasks that require precise positioning.</a:t>
            </a:r>
            <a:endParaRPr sz="1640"/>
          </a:p>
          <a:p>
            <a:pPr indent="0" lvl="0" marL="0" rtl="0" algn="just">
              <a:spcBef>
                <a:spcPts val="0"/>
              </a:spcBef>
              <a:spcAft>
                <a:spcPts val="0"/>
              </a:spcAft>
              <a:buClr>
                <a:schemeClr val="dk2"/>
              </a:buClr>
              <a:buSzPts val="990"/>
              <a:buFont typeface="Arial"/>
              <a:buNone/>
            </a:pPr>
            <a:r>
              <a:t/>
            </a:r>
            <a:endParaRPr sz="1640"/>
          </a:p>
          <a:p>
            <a:pPr indent="0" lvl="0" marL="0" rtl="0" algn="just">
              <a:spcBef>
                <a:spcPts val="0"/>
              </a:spcBef>
              <a:spcAft>
                <a:spcPts val="0"/>
              </a:spcAft>
              <a:buClr>
                <a:schemeClr val="dk2"/>
              </a:buClr>
              <a:buSzPts val="990"/>
              <a:buFont typeface="Arial"/>
              <a:buNone/>
            </a:pPr>
            <a:r>
              <a:rPr lang="en-GB" sz="1640" u="sng"/>
              <a:t>Applications of robotic arms:</a:t>
            </a:r>
            <a:endParaRPr sz="1640" u="sng"/>
          </a:p>
          <a:p>
            <a:pPr indent="0" lvl="0" marL="0" rtl="0" algn="just">
              <a:spcBef>
                <a:spcPts val="0"/>
              </a:spcBef>
              <a:spcAft>
                <a:spcPts val="0"/>
              </a:spcAft>
              <a:buClr>
                <a:schemeClr val="dk2"/>
              </a:buClr>
              <a:buSzPts val="990"/>
              <a:buFont typeface="Arial"/>
              <a:buNone/>
            </a:pPr>
            <a:r>
              <a:rPr lang="en-GB" sz="1640"/>
              <a:t>Manufacturing: Robotic arms are used in a variety of manufacturing tasks, such as welding, assembly, and painting.</a:t>
            </a:r>
            <a:endParaRPr sz="1640"/>
          </a:p>
          <a:p>
            <a:pPr indent="0" lvl="0" marL="0" rtl="0" algn="just">
              <a:spcBef>
                <a:spcPts val="0"/>
              </a:spcBef>
              <a:spcAft>
                <a:spcPts val="0"/>
              </a:spcAft>
              <a:buClr>
                <a:schemeClr val="dk2"/>
              </a:buClr>
              <a:buSzPts val="990"/>
              <a:buFont typeface="Arial"/>
              <a:buNone/>
            </a:pPr>
            <a:r>
              <a:rPr lang="en-GB" sz="1640"/>
              <a:t>Surgery: Robotic arms are used in minimally invasive surgery, where they can make small incisions and perform delicate procedures.</a:t>
            </a:r>
            <a:endParaRPr sz="1640"/>
          </a:p>
          <a:p>
            <a:pPr indent="0" lvl="0" marL="0" rtl="0" algn="just">
              <a:spcBef>
                <a:spcPts val="0"/>
              </a:spcBef>
              <a:spcAft>
                <a:spcPts val="0"/>
              </a:spcAft>
              <a:buSzPts val="990"/>
              <a:buNone/>
            </a:pPr>
            <a:r>
              <a:rPr lang="en-GB" sz="1640"/>
              <a:t>Exploration: Robotic arms are used in underwater and space exploration, where they can perform tasks that are too dangerous or difficult for humans.</a:t>
            </a:r>
            <a:endParaRPr sz="164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44250" y="282850"/>
            <a:ext cx="8455500" cy="630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sz="2500"/>
              <a:t>2] Voice Controlled Robotic Vehicle</a:t>
            </a:r>
            <a:endParaRPr sz="2500"/>
          </a:p>
        </p:txBody>
      </p:sp>
      <p:pic>
        <p:nvPicPr>
          <p:cNvPr id="79" name="Google Shape;79;p16"/>
          <p:cNvPicPr preferRelativeResize="0"/>
          <p:nvPr/>
        </p:nvPicPr>
        <p:blipFill>
          <a:blip r:embed="rId3">
            <a:alphaModFix/>
          </a:blip>
          <a:stretch>
            <a:fillRect/>
          </a:stretch>
        </p:blipFill>
        <p:spPr>
          <a:xfrm>
            <a:off x="793000" y="1075988"/>
            <a:ext cx="3671451" cy="2447625"/>
          </a:xfrm>
          <a:prstGeom prst="rect">
            <a:avLst/>
          </a:prstGeom>
          <a:noFill/>
          <a:ln>
            <a:noFill/>
          </a:ln>
        </p:spPr>
      </p:pic>
      <p:pic>
        <p:nvPicPr>
          <p:cNvPr id="80" name="Google Shape;80;p16"/>
          <p:cNvPicPr preferRelativeResize="0"/>
          <p:nvPr/>
        </p:nvPicPr>
        <p:blipFill>
          <a:blip r:embed="rId4">
            <a:alphaModFix/>
          </a:blip>
          <a:stretch>
            <a:fillRect/>
          </a:stretch>
        </p:blipFill>
        <p:spPr>
          <a:xfrm>
            <a:off x="4654525" y="1085825"/>
            <a:ext cx="3671451" cy="2427950"/>
          </a:xfrm>
          <a:prstGeom prst="rect">
            <a:avLst/>
          </a:prstGeom>
          <a:noFill/>
          <a:ln>
            <a:noFill/>
          </a:ln>
        </p:spPr>
      </p:pic>
      <p:sp>
        <p:nvSpPr>
          <p:cNvPr id="81" name="Google Shape;81;p16"/>
          <p:cNvSpPr txBox="1"/>
          <p:nvPr/>
        </p:nvSpPr>
        <p:spPr>
          <a:xfrm>
            <a:off x="1017400" y="4069575"/>
            <a:ext cx="4267500" cy="42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Playfair Display"/>
              <a:ea typeface="Playfair Display"/>
              <a:cs typeface="Playfair Display"/>
              <a:sym typeface="Playfair Display"/>
            </a:endParaRPr>
          </a:p>
        </p:txBody>
      </p:sp>
      <p:sp>
        <p:nvSpPr>
          <p:cNvPr id="82" name="Google Shape;82;p16"/>
          <p:cNvSpPr txBox="1"/>
          <p:nvPr/>
        </p:nvSpPr>
        <p:spPr>
          <a:xfrm>
            <a:off x="805500" y="3685850"/>
            <a:ext cx="7533000" cy="104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t/>
            </a:r>
            <a:endParaRPr sz="1800">
              <a:solidFill>
                <a:schemeClr val="lt1"/>
              </a:solidFill>
              <a:latin typeface="Playfair Display"/>
              <a:ea typeface="Playfair Display"/>
              <a:cs typeface="Playfair Display"/>
              <a:sym typeface="Playfair Display"/>
            </a:endParaRPr>
          </a:p>
          <a:p>
            <a:pPr indent="0" lvl="0" marL="0" rtl="0" algn="ctr">
              <a:spcBef>
                <a:spcPts val="0"/>
              </a:spcBef>
              <a:spcAft>
                <a:spcPts val="0"/>
              </a:spcAft>
              <a:buNone/>
            </a:pPr>
            <a:r>
              <a:rPr lang="en-GB" sz="1800">
                <a:solidFill>
                  <a:schemeClr val="lt1"/>
                </a:solidFill>
                <a:latin typeface="Playfair Display"/>
                <a:ea typeface="Playfair Display"/>
                <a:cs typeface="Playfair Display"/>
                <a:sym typeface="Playfair Display"/>
              </a:rPr>
              <a:t>A voice-controlled robotic vehicle (VCRV) is a type of mobile robot controlled by spoken commands instead of traditional methods like physical buttons or controllers. </a:t>
            </a:r>
            <a:endParaRPr sz="1800">
              <a:solidFill>
                <a:schemeClr val="lt1"/>
              </a:solidFill>
              <a:latin typeface="Playfair Display"/>
              <a:ea typeface="Playfair Display"/>
              <a:cs typeface="Playfair Display"/>
              <a:sym typeface="Playfair Display"/>
            </a:endParaRPr>
          </a:p>
        </p:txBody>
      </p:sp>
      <p:pic>
        <p:nvPicPr>
          <p:cNvPr id="83" name="Google Shape;83;p16"/>
          <p:cNvPicPr preferRelativeResize="0"/>
          <p:nvPr/>
        </p:nvPicPr>
        <p:blipFill>
          <a:blip r:embed="rId5">
            <a:alphaModFix/>
          </a:blip>
          <a:stretch>
            <a:fillRect/>
          </a:stretch>
        </p:blipFill>
        <p:spPr>
          <a:xfrm>
            <a:off x="769900" y="1076000"/>
            <a:ext cx="3671450" cy="2427950"/>
          </a:xfrm>
          <a:prstGeom prst="rect">
            <a:avLst/>
          </a:prstGeom>
          <a:noFill/>
          <a:ln>
            <a:noFill/>
          </a:ln>
        </p:spPr>
      </p:pic>
      <p:pic>
        <p:nvPicPr>
          <p:cNvPr id="84" name="Google Shape;84;p16"/>
          <p:cNvPicPr preferRelativeResize="0"/>
          <p:nvPr/>
        </p:nvPicPr>
        <p:blipFill>
          <a:blip r:embed="rId6">
            <a:alphaModFix/>
          </a:blip>
          <a:stretch>
            <a:fillRect/>
          </a:stretch>
        </p:blipFill>
        <p:spPr>
          <a:xfrm>
            <a:off x="4654525" y="1085825"/>
            <a:ext cx="3671450" cy="24279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44250" y="409025"/>
            <a:ext cx="8455500" cy="42744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Clr>
                <a:schemeClr val="dk2"/>
              </a:buClr>
              <a:buSzPts val="1100"/>
              <a:buFont typeface="Arial"/>
              <a:buNone/>
            </a:pPr>
            <a:r>
              <a:rPr lang="en-GB" sz="1400" u="sng"/>
              <a:t>How it works:</a:t>
            </a:r>
            <a:endParaRPr sz="1400"/>
          </a:p>
          <a:p>
            <a:pPr indent="0" lvl="0" marL="0" rtl="0" algn="just">
              <a:spcBef>
                <a:spcPts val="0"/>
              </a:spcBef>
              <a:spcAft>
                <a:spcPts val="0"/>
              </a:spcAft>
              <a:buClr>
                <a:schemeClr val="dk2"/>
              </a:buClr>
              <a:buSzPts val="1100"/>
              <a:buFont typeface="Arial"/>
              <a:buNone/>
            </a:pPr>
            <a:r>
              <a:rPr lang="en-GB" sz="1400"/>
              <a:t>Speech recognition: The vehicle captures your voice commands using a microphone and a speech recognition system.</a:t>
            </a:r>
            <a:endParaRPr sz="1400"/>
          </a:p>
          <a:p>
            <a:pPr indent="0" lvl="0" marL="0" rtl="0" algn="just">
              <a:spcBef>
                <a:spcPts val="0"/>
              </a:spcBef>
              <a:spcAft>
                <a:spcPts val="0"/>
              </a:spcAft>
              <a:buClr>
                <a:schemeClr val="dk2"/>
              </a:buClr>
              <a:buSzPts val="1100"/>
              <a:buFont typeface="Arial"/>
              <a:buNone/>
            </a:pPr>
            <a:r>
              <a:rPr lang="en-GB" sz="1400"/>
              <a:t>Command processing: The system interprets your commands and determines the desired action.</a:t>
            </a:r>
            <a:endParaRPr sz="1400"/>
          </a:p>
          <a:p>
            <a:pPr indent="0" lvl="0" marL="0" rtl="0" algn="just">
              <a:spcBef>
                <a:spcPts val="0"/>
              </a:spcBef>
              <a:spcAft>
                <a:spcPts val="0"/>
              </a:spcAft>
              <a:buClr>
                <a:schemeClr val="dk2"/>
              </a:buClr>
              <a:buSzPts val="1100"/>
              <a:buFont typeface="Arial"/>
              <a:buNone/>
            </a:pPr>
            <a:r>
              <a:rPr lang="en-GB" sz="1400"/>
              <a:t>Navigation and control: The vehicle executes the command through motors, actuators, and other control systems.</a:t>
            </a:r>
            <a:endParaRPr sz="1400"/>
          </a:p>
          <a:p>
            <a:pPr indent="0" lvl="0" marL="0" rtl="0" algn="just">
              <a:spcBef>
                <a:spcPts val="0"/>
              </a:spcBef>
              <a:spcAft>
                <a:spcPts val="0"/>
              </a:spcAft>
              <a:buSzPts val="1100"/>
              <a:buNone/>
            </a:pPr>
            <a:r>
              <a:t/>
            </a:r>
            <a:endParaRPr sz="1400"/>
          </a:p>
          <a:p>
            <a:pPr indent="0" lvl="0" marL="0" rtl="0" algn="just">
              <a:spcBef>
                <a:spcPts val="0"/>
              </a:spcBef>
              <a:spcAft>
                <a:spcPts val="0"/>
              </a:spcAft>
              <a:buClr>
                <a:schemeClr val="dk2"/>
              </a:buClr>
              <a:buSzPts val="1100"/>
              <a:buFont typeface="Arial"/>
              <a:buNone/>
            </a:pPr>
            <a:r>
              <a:rPr lang="en-GB" sz="1400" u="sng"/>
              <a:t>Features and capabilities:</a:t>
            </a:r>
            <a:endParaRPr sz="1400"/>
          </a:p>
          <a:p>
            <a:pPr indent="0" lvl="0" marL="0" rtl="0" algn="just">
              <a:spcBef>
                <a:spcPts val="0"/>
              </a:spcBef>
              <a:spcAft>
                <a:spcPts val="0"/>
              </a:spcAft>
              <a:buClr>
                <a:schemeClr val="dk2"/>
              </a:buClr>
              <a:buSzPts val="1100"/>
              <a:buFont typeface="Arial"/>
              <a:buNone/>
            </a:pPr>
            <a:r>
              <a:rPr lang="en-GB" sz="1400"/>
              <a:t>Basic movements: Forward, backward, turn left, turn right, stop.</a:t>
            </a:r>
            <a:endParaRPr sz="1400"/>
          </a:p>
          <a:p>
            <a:pPr indent="0" lvl="0" marL="0" rtl="0" algn="just">
              <a:spcBef>
                <a:spcPts val="0"/>
              </a:spcBef>
              <a:spcAft>
                <a:spcPts val="0"/>
              </a:spcAft>
              <a:buClr>
                <a:schemeClr val="dk2"/>
              </a:buClr>
              <a:buSzPts val="1100"/>
              <a:buFont typeface="Arial"/>
              <a:buNone/>
            </a:pPr>
            <a:r>
              <a:rPr lang="en-GB" sz="1400"/>
              <a:t>Advanced functions: Speed control, obstacle avoidance, route planning, environmental sensing.</a:t>
            </a:r>
            <a:endParaRPr sz="1400"/>
          </a:p>
          <a:p>
            <a:pPr indent="0" lvl="0" marL="0" rtl="0" algn="just">
              <a:spcBef>
                <a:spcPts val="0"/>
              </a:spcBef>
              <a:spcAft>
                <a:spcPts val="0"/>
              </a:spcAft>
              <a:buClr>
                <a:schemeClr val="dk2"/>
              </a:buClr>
              <a:buSzPts val="1100"/>
              <a:buFont typeface="Arial"/>
              <a:buNone/>
            </a:pPr>
            <a:r>
              <a:rPr lang="en-GB" sz="1400"/>
              <a:t>Applications: Research, exploration, delivery, hazardous environments, assisting persons with disabilities.</a:t>
            </a:r>
            <a:endParaRPr sz="1400"/>
          </a:p>
          <a:p>
            <a:pPr indent="0" lvl="0" marL="0" rtl="0" algn="just">
              <a:spcBef>
                <a:spcPts val="0"/>
              </a:spcBef>
              <a:spcAft>
                <a:spcPts val="0"/>
              </a:spcAft>
              <a:buSzPts val="1100"/>
              <a:buNone/>
            </a:pPr>
            <a:r>
              <a:t/>
            </a:r>
            <a:endParaRPr sz="1400"/>
          </a:p>
          <a:p>
            <a:pPr indent="0" lvl="0" marL="0" rtl="0" algn="just">
              <a:spcBef>
                <a:spcPts val="0"/>
              </a:spcBef>
              <a:spcAft>
                <a:spcPts val="0"/>
              </a:spcAft>
              <a:buClr>
                <a:schemeClr val="dk2"/>
              </a:buClr>
              <a:buSzPts val="1100"/>
              <a:buFont typeface="Arial"/>
              <a:buNone/>
            </a:pPr>
            <a:r>
              <a:rPr lang="en-GB" sz="1400" u="sng"/>
              <a:t>Benefits:</a:t>
            </a:r>
            <a:endParaRPr sz="1400" u="sng"/>
          </a:p>
          <a:p>
            <a:pPr indent="0" lvl="0" marL="0" rtl="0" algn="just">
              <a:spcBef>
                <a:spcPts val="0"/>
              </a:spcBef>
              <a:spcAft>
                <a:spcPts val="0"/>
              </a:spcAft>
              <a:buClr>
                <a:schemeClr val="dk2"/>
              </a:buClr>
              <a:buSzPts val="1100"/>
              <a:buFont typeface="Arial"/>
              <a:buNone/>
            </a:pPr>
            <a:r>
              <a:rPr lang="en-GB" sz="1400"/>
              <a:t>Hands-free control: More convenient and frees up hands for other tasks.</a:t>
            </a:r>
            <a:endParaRPr sz="1400"/>
          </a:p>
          <a:p>
            <a:pPr indent="0" lvl="0" marL="0" rtl="0" algn="just">
              <a:spcBef>
                <a:spcPts val="0"/>
              </a:spcBef>
              <a:spcAft>
                <a:spcPts val="0"/>
              </a:spcAft>
              <a:buClr>
                <a:schemeClr val="dk2"/>
              </a:buClr>
              <a:buSzPts val="1100"/>
              <a:buFont typeface="Arial"/>
              <a:buNone/>
            </a:pPr>
            <a:r>
              <a:rPr lang="en-GB" sz="1400"/>
              <a:t>Safe operation: Avoids the need for physical interaction in dangerous environments.</a:t>
            </a:r>
            <a:endParaRPr sz="1400"/>
          </a:p>
          <a:p>
            <a:pPr indent="0" lvl="0" marL="0" rtl="0" algn="just">
              <a:spcBef>
                <a:spcPts val="0"/>
              </a:spcBef>
              <a:spcAft>
                <a:spcPts val="0"/>
              </a:spcAft>
              <a:buSzPts val="1100"/>
              <a:buNone/>
            </a:pPr>
            <a:r>
              <a:rPr lang="en-GB" sz="1400"/>
              <a:t>Accessibility: Enables use by people with limited mobility or dexterity.</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44250" y="282850"/>
            <a:ext cx="8455500" cy="630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sz="2500"/>
              <a:t>3] Cruise Controlled E-Vehicle</a:t>
            </a:r>
            <a:endParaRPr sz="2500"/>
          </a:p>
        </p:txBody>
      </p:sp>
      <p:pic>
        <p:nvPicPr>
          <p:cNvPr id="95" name="Google Shape;95;p18"/>
          <p:cNvPicPr preferRelativeResize="0"/>
          <p:nvPr/>
        </p:nvPicPr>
        <p:blipFill>
          <a:blip r:embed="rId3">
            <a:alphaModFix/>
          </a:blip>
          <a:stretch>
            <a:fillRect/>
          </a:stretch>
        </p:blipFill>
        <p:spPr>
          <a:xfrm>
            <a:off x="793000" y="1075988"/>
            <a:ext cx="3671451" cy="2447625"/>
          </a:xfrm>
          <a:prstGeom prst="rect">
            <a:avLst/>
          </a:prstGeom>
          <a:noFill/>
          <a:ln>
            <a:noFill/>
          </a:ln>
        </p:spPr>
      </p:pic>
      <p:pic>
        <p:nvPicPr>
          <p:cNvPr id="96" name="Google Shape;96;p18"/>
          <p:cNvPicPr preferRelativeResize="0"/>
          <p:nvPr/>
        </p:nvPicPr>
        <p:blipFill>
          <a:blip r:embed="rId4">
            <a:alphaModFix/>
          </a:blip>
          <a:stretch>
            <a:fillRect/>
          </a:stretch>
        </p:blipFill>
        <p:spPr>
          <a:xfrm>
            <a:off x="4654525" y="1085825"/>
            <a:ext cx="3671451" cy="2427950"/>
          </a:xfrm>
          <a:prstGeom prst="rect">
            <a:avLst/>
          </a:prstGeom>
          <a:noFill/>
          <a:ln>
            <a:noFill/>
          </a:ln>
        </p:spPr>
      </p:pic>
      <p:sp>
        <p:nvSpPr>
          <p:cNvPr id="97" name="Google Shape;97;p18"/>
          <p:cNvSpPr txBox="1"/>
          <p:nvPr/>
        </p:nvSpPr>
        <p:spPr>
          <a:xfrm>
            <a:off x="1017400" y="4069575"/>
            <a:ext cx="4267500" cy="42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Playfair Display"/>
              <a:ea typeface="Playfair Display"/>
              <a:cs typeface="Playfair Display"/>
              <a:sym typeface="Playfair Display"/>
            </a:endParaRPr>
          </a:p>
        </p:txBody>
      </p:sp>
      <p:sp>
        <p:nvSpPr>
          <p:cNvPr id="98" name="Google Shape;98;p18"/>
          <p:cNvSpPr txBox="1"/>
          <p:nvPr/>
        </p:nvSpPr>
        <p:spPr>
          <a:xfrm>
            <a:off x="805500" y="3759975"/>
            <a:ext cx="7533000" cy="10431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Clr>
                <a:schemeClr val="dk2"/>
              </a:buClr>
              <a:buSzPts val="1100"/>
              <a:buFont typeface="Arial"/>
              <a:buNone/>
            </a:pPr>
            <a:r>
              <a:t/>
            </a:r>
            <a:endParaRPr sz="1600">
              <a:solidFill>
                <a:schemeClr val="lt1"/>
              </a:solidFill>
              <a:latin typeface="Playfair Display"/>
              <a:ea typeface="Playfair Display"/>
              <a:cs typeface="Playfair Display"/>
              <a:sym typeface="Playfair Display"/>
            </a:endParaRPr>
          </a:p>
          <a:p>
            <a:pPr indent="0" lvl="0" marL="0" rtl="0" algn="just">
              <a:spcBef>
                <a:spcPts val="0"/>
              </a:spcBef>
              <a:spcAft>
                <a:spcPts val="0"/>
              </a:spcAft>
              <a:buClr>
                <a:schemeClr val="dk2"/>
              </a:buClr>
              <a:buSzPts val="1100"/>
              <a:buFont typeface="Arial"/>
              <a:buNone/>
            </a:pPr>
            <a:r>
              <a:rPr lang="en-GB" sz="1600">
                <a:solidFill>
                  <a:schemeClr val="lt1"/>
                </a:solidFill>
                <a:latin typeface="Playfair Display"/>
                <a:ea typeface="Playfair Display"/>
                <a:cs typeface="Playfair Display"/>
                <a:sym typeface="Playfair Display"/>
              </a:rPr>
              <a:t>Cruise Controlled Electric Vehicles: Gliding into the Future</a:t>
            </a:r>
            <a:endParaRPr sz="1600">
              <a:solidFill>
                <a:schemeClr val="lt1"/>
              </a:solidFill>
              <a:latin typeface="Playfair Display"/>
              <a:ea typeface="Playfair Display"/>
              <a:cs typeface="Playfair Display"/>
              <a:sym typeface="Playfair Display"/>
            </a:endParaRPr>
          </a:p>
          <a:p>
            <a:pPr indent="0" lvl="0" marL="0" rtl="0" algn="just">
              <a:spcBef>
                <a:spcPts val="0"/>
              </a:spcBef>
              <a:spcAft>
                <a:spcPts val="0"/>
              </a:spcAft>
              <a:buNone/>
            </a:pPr>
            <a:r>
              <a:rPr lang="en-GB" sz="1600">
                <a:solidFill>
                  <a:schemeClr val="lt1"/>
                </a:solidFill>
                <a:latin typeface="Playfair Display"/>
                <a:ea typeface="Playfair Display"/>
                <a:cs typeface="Playfair Display"/>
                <a:sym typeface="Playfair Display"/>
              </a:rPr>
              <a:t>Cruise control on electric vehicles (EVs) takes the convenience and efficiency of this driver-assistance feature to a whole new level, enhancing your driving experience and potentially boosting your EV's range. </a:t>
            </a:r>
            <a:endParaRPr sz="1600">
              <a:solidFill>
                <a:schemeClr val="lt1"/>
              </a:solidFill>
              <a:latin typeface="Playfair Display"/>
              <a:ea typeface="Playfair Display"/>
              <a:cs typeface="Playfair Display"/>
              <a:sym typeface="Playfair Display"/>
            </a:endParaRPr>
          </a:p>
        </p:txBody>
      </p:sp>
      <p:pic>
        <p:nvPicPr>
          <p:cNvPr id="99" name="Google Shape;99;p18"/>
          <p:cNvPicPr preferRelativeResize="0"/>
          <p:nvPr/>
        </p:nvPicPr>
        <p:blipFill>
          <a:blip r:embed="rId5">
            <a:alphaModFix/>
          </a:blip>
          <a:stretch>
            <a:fillRect/>
          </a:stretch>
        </p:blipFill>
        <p:spPr>
          <a:xfrm>
            <a:off x="805500" y="1076000"/>
            <a:ext cx="3658950" cy="2447599"/>
          </a:xfrm>
          <a:prstGeom prst="rect">
            <a:avLst/>
          </a:prstGeom>
          <a:noFill/>
          <a:ln>
            <a:noFill/>
          </a:ln>
        </p:spPr>
      </p:pic>
      <p:pic>
        <p:nvPicPr>
          <p:cNvPr id="100" name="Google Shape;100;p18"/>
          <p:cNvPicPr preferRelativeResize="0"/>
          <p:nvPr/>
        </p:nvPicPr>
        <p:blipFill>
          <a:blip r:embed="rId6">
            <a:alphaModFix/>
          </a:blip>
          <a:stretch>
            <a:fillRect/>
          </a:stretch>
        </p:blipFill>
        <p:spPr>
          <a:xfrm>
            <a:off x="4654525" y="1085825"/>
            <a:ext cx="3671450" cy="24279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44250" y="409025"/>
            <a:ext cx="8455500" cy="42744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Clr>
                <a:schemeClr val="dk2"/>
              </a:buClr>
              <a:buSzPts val="1100"/>
              <a:buFont typeface="Arial"/>
              <a:buNone/>
            </a:pPr>
            <a:r>
              <a:rPr lang="en-GB" sz="1640" u="sng"/>
              <a:t>What is cruise control and how does it work in EVs?</a:t>
            </a:r>
            <a:endParaRPr sz="1640" u="sng"/>
          </a:p>
          <a:p>
            <a:pPr indent="0" lvl="0" marL="0" rtl="0" algn="just">
              <a:spcBef>
                <a:spcPts val="0"/>
              </a:spcBef>
              <a:spcAft>
                <a:spcPts val="0"/>
              </a:spcAft>
              <a:buSzPts val="1100"/>
              <a:buNone/>
            </a:pPr>
            <a:r>
              <a:rPr lang="en-GB" sz="1640"/>
              <a:t>Cruise control, in essence, is an autopilot for maintaining a constant speed. In EVs, it works by electronically controlling the electric motor based on inputs from various sensors like wheel speed, radar, and lidar. These sensors monitor the surrounding environment and vehicle performance, allowing the system to adjust power delivery and maintain your desired speed, even on slight inclines or declines.</a:t>
            </a:r>
            <a:endParaRPr sz="1640"/>
          </a:p>
          <a:p>
            <a:pPr indent="0" lvl="0" marL="0" rtl="0" algn="just">
              <a:spcBef>
                <a:spcPts val="0"/>
              </a:spcBef>
              <a:spcAft>
                <a:spcPts val="0"/>
              </a:spcAft>
              <a:buClr>
                <a:schemeClr val="dk2"/>
              </a:buClr>
              <a:buSzPts val="1100"/>
              <a:buFont typeface="Arial"/>
              <a:buNone/>
            </a:pPr>
            <a:r>
              <a:t/>
            </a:r>
            <a:endParaRPr sz="1640"/>
          </a:p>
          <a:p>
            <a:pPr indent="0" lvl="0" marL="0" rtl="0" algn="just">
              <a:spcBef>
                <a:spcPts val="0"/>
              </a:spcBef>
              <a:spcAft>
                <a:spcPts val="0"/>
              </a:spcAft>
              <a:buClr>
                <a:schemeClr val="dk2"/>
              </a:buClr>
              <a:buSzPts val="1100"/>
              <a:buFont typeface="Arial"/>
              <a:buNone/>
            </a:pPr>
            <a:r>
              <a:rPr lang="en-GB" sz="1640" u="sng"/>
              <a:t>Benefits of cruise control in EVs:</a:t>
            </a:r>
            <a:endParaRPr sz="1640" u="sng"/>
          </a:p>
          <a:p>
            <a:pPr indent="0" lvl="0" marL="0" rtl="0" algn="just">
              <a:spcBef>
                <a:spcPts val="0"/>
              </a:spcBef>
              <a:spcAft>
                <a:spcPts val="0"/>
              </a:spcAft>
              <a:buClr>
                <a:schemeClr val="dk2"/>
              </a:buClr>
              <a:buSzPts val="1100"/>
              <a:buFont typeface="Arial"/>
              <a:buNone/>
            </a:pPr>
            <a:r>
              <a:rPr lang="en-GB" sz="1640"/>
              <a:t>Increased Range: Maintaining a steady speed is key to maximizing EV range. Cruise control helps avoid unnecessary acceleration and deceleration, which can be energy-intensive for electric motors.</a:t>
            </a:r>
            <a:endParaRPr sz="1640"/>
          </a:p>
          <a:p>
            <a:pPr indent="0" lvl="0" marL="0" rtl="0" algn="just">
              <a:spcBef>
                <a:spcPts val="0"/>
              </a:spcBef>
              <a:spcAft>
                <a:spcPts val="0"/>
              </a:spcAft>
              <a:buClr>
                <a:schemeClr val="dk2"/>
              </a:buClr>
              <a:buSzPts val="1100"/>
              <a:buFont typeface="Arial"/>
              <a:buNone/>
            </a:pPr>
            <a:r>
              <a:rPr lang="en-GB" sz="1640"/>
              <a:t>Reduced Driver Fatigue: Long highway drives become more relaxing with cruise control, as you don't have to constantly adjust your foot pressure on the accelerator pedal.</a:t>
            </a:r>
            <a:endParaRPr sz="1640"/>
          </a:p>
          <a:p>
            <a:pPr indent="0" lvl="0" marL="0" rtl="0" algn="just">
              <a:spcBef>
                <a:spcPts val="0"/>
              </a:spcBef>
              <a:spcAft>
                <a:spcPts val="0"/>
              </a:spcAft>
              <a:buSzPts val="1100"/>
              <a:buNone/>
            </a:pPr>
            <a:r>
              <a:rPr lang="en-GB" sz="1640"/>
              <a:t>Improved Safety: By minimizing distractions and maintaining a consistent speed, cruise control can potentially contribute to safer driving on highways. </a:t>
            </a:r>
            <a:endParaRPr sz="164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0"/>
          <p:cNvPicPr preferRelativeResize="0"/>
          <p:nvPr/>
        </p:nvPicPr>
        <p:blipFill>
          <a:blip r:embed="rId3">
            <a:alphaModFix/>
          </a:blip>
          <a:stretch>
            <a:fillRect/>
          </a:stretch>
        </p:blipFill>
        <p:spPr>
          <a:xfrm>
            <a:off x="281850" y="219675"/>
            <a:ext cx="8580301" cy="4704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