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Century Schoolbook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5B099E-E29B-4AE7-9C7B-90C4F69C759A}">
  <a:tblStyle styleId="{7D5B099E-E29B-4AE7-9C7B-90C4F69C759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regular.fntdata"/><Relationship Id="rId21" Type="http://schemas.openxmlformats.org/officeDocument/2006/relationships/slide" Target="slides/slide15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CenturySchoolbook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CenturySchoolbook-italic.fntdata"/><Relationship Id="rId27" Type="http://schemas.openxmlformats.org/officeDocument/2006/relationships/font" Target="fonts/CenturySchoolbook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CenturySchoolbook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65f22e6789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65f22e678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265f22e6789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65f22e6789_1_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65f22e6789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265f22e6789_1_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65f22e6789_1_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65f22e6789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265f22e6789_1_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b2a478583f_0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b2a478583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2b2a478583f_0_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65f22e6789_1_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65f22e6789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265f22e6789_1_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b2a478583f_0_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b2a478583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2b2a478583f_0_8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 txBox="1"/>
          <p:nvPr>
            <p:ph type="ctrTitle"/>
          </p:nvPr>
        </p:nvSpPr>
        <p:spPr>
          <a:xfrm>
            <a:off x="2286000" y="3124200"/>
            <a:ext cx="6172200" cy="1894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2286000" y="5003322"/>
            <a:ext cx="6172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>
                <a:solidFill>
                  <a:schemeClr val="dk2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224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 rot="5400000">
            <a:off x="7764621" y="1174097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 rot="5400000">
            <a:off x="7077269" y="4181669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/>
          <p:nvPr/>
        </p:nvSpPr>
        <p:spPr>
          <a:xfrm>
            <a:off x="381000" y="0"/>
            <a:ext cx="609600" cy="6858000"/>
          </a:xfrm>
          <a:prstGeom prst="rect">
            <a:avLst/>
          </a:prstGeom>
          <a:solidFill>
            <a:srgbClr val="FEC2AC">
              <a:alpha val="5372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276336" y="0"/>
            <a:ext cx="104664" cy="6858000"/>
          </a:xfrm>
          <a:prstGeom prst="rect">
            <a:avLst/>
          </a:prstGeom>
          <a:solidFill>
            <a:srgbClr val="FFD8CC">
              <a:alpha val="3568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990600" y="0"/>
            <a:ext cx="181872" cy="6858000"/>
          </a:xfrm>
          <a:prstGeom prst="rect">
            <a:avLst/>
          </a:prstGeom>
          <a:solidFill>
            <a:srgbClr val="FFD8CC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141320" y="0"/>
            <a:ext cx="230280" cy="6858000"/>
          </a:xfrm>
          <a:prstGeom prst="rect">
            <a:avLst/>
          </a:prstGeom>
          <a:solidFill>
            <a:srgbClr val="FFEDE7">
              <a:alpha val="7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30" name="Google Shape;30;p2"/>
          <p:cNvCxnSpPr/>
          <p:nvPr/>
        </p:nvCxnSpPr>
        <p:spPr>
          <a:xfrm>
            <a:off x="106344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EC2AC">
                <a:alpha val="7294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2"/>
          <p:cNvCxnSpPr/>
          <p:nvPr/>
        </p:nvCxnSpPr>
        <p:spPr>
          <a:xfrm>
            <a:off x="914400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FEDE7">
                <a:alpha val="82745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p2"/>
          <p:cNvCxnSpPr/>
          <p:nvPr/>
        </p:nvCxnSpPr>
        <p:spPr>
          <a:xfrm>
            <a:off x="854112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p2"/>
          <p:cNvCxnSpPr/>
          <p:nvPr/>
        </p:nvCxnSpPr>
        <p:spPr>
          <a:xfrm>
            <a:off x="1726640" y="0"/>
            <a:ext cx="0" cy="6858000"/>
          </a:xfrm>
          <a:prstGeom prst="straightConnector1">
            <a:avLst/>
          </a:prstGeom>
          <a:noFill/>
          <a:ln cap="flat" cmpd="sng" w="28575">
            <a:solidFill>
              <a:srgbClr val="FEC2AC">
                <a:alpha val="819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2"/>
          <p:cNvCxnSpPr/>
          <p:nvPr/>
        </p:nvCxnSpPr>
        <p:spPr>
          <a:xfrm>
            <a:off x="1066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2"/>
          <p:cNvCxnSpPr/>
          <p:nvPr/>
        </p:nvCxnSpPr>
        <p:spPr>
          <a:xfrm>
            <a:off x="9113856" y="0"/>
            <a:ext cx="0" cy="6858000"/>
          </a:xfrm>
          <a:prstGeom prst="straightConnector1">
            <a:avLst/>
          </a:prstGeom>
          <a:noFill/>
          <a:ln cap="flat" cmpd="thickThin" w="57150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2"/>
          <p:cNvSpPr/>
          <p:nvPr/>
        </p:nvSpPr>
        <p:spPr>
          <a:xfrm>
            <a:off x="1219200" y="0"/>
            <a:ext cx="76200" cy="6858000"/>
          </a:xfrm>
          <a:prstGeom prst="rect">
            <a:avLst/>
          </a:prstGeom>
          <a:solidFill>
            <a:srgbClr val="FEC2AC">
              <a:alpha val="5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309632" y="4866752"/>
            <a:ext cx="641424" cy="6414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91080" y="5500632"/>
            <a:ext cx="137160" cy="1371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664208" y="5788152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2" name="Google Shape;42;p2"/>
          <p:cNvSpPr txBox="1"/>
          <p:nvPr>
            <p:ph idx="12" type="sldNum"/>
          </p:nvPr>
        </p:nvSpPr>
        <p:spPr>
          <a:xfrm>
            <a:off x="1325544" y="4928702"/>
            <a:ext cx="609600" cy="5175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/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"/>
          <p:cNvSpPr txBox="1"/>
          <p:nvPr>
            <p:ph idx="1" type="body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3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"/>
          <p:cNvSpPr txBox="1"/>
          <p:nvPr>
            <p:ph idx="10" type="dt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3"/>
          <p:cNvSpPr txBox="1"/>
          <p:nvPr>
            <p:ph idx="11" type="ftr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/>
          <p:nvPr>
            <p:ph idx="10" type="dt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1" type="ftr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dk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/>
          <p:nvPr>
            <p:ph type="title"/>
          </p:nvPr>
        </p:nvSpPr>
        <p:spPr>
          <a:xfrm>
            <a:off x="2286000" y="2895600"/>
            <a:ext cx="6172200" cy="20535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Century Schoolbook"/>
              <a:buNone/>
              <a:defRPr b="1" sz="3000" cap="small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" type="body"/>
          </p:nvPr>
        </p:nvSpPr>
        <p:spPr>
          <a:xfrm>
            <a:off x="2286000" y="5010150"/>
            <a:ext cx="6172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>
                <a:solidFill>
                  <a:schemeClr val="lt2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96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52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0" type="dt"/>
          </p:nvPr>
        </p:nvSpPr>
        <p:spPr>
          <a:xfrm rot="5400000">
            <a:off x="7763256" y="1170432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1" type="ftr"/>
          </p:nvPr>
        </p:nvSpPr>
        <p:spPr>
          <a:xfrm rot="5400000">
            <a:off x="7077456" y="417880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"/>
          <p:cNvSpPr/>
          <p:nvPr/>
        </p:nvSpPr>
        <p:spPr>
          <a:xfrm>
            <a:off x="381000" y="0"/>
            <a:ext cx="609600" cy="6858000"/>
          </a:xfrm>
          <a:prstGeom prst="rect">
            <a:avLst/>
          </a:prstGeom>
          <a:solidFill>
            <a:srgbClr val="FEC2AC">
              <a:alpha val="5372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76336" y="0"/>
            <a:ext cx="104664" cy="6858000"/>
          </a:xfrm>
          <a:prstGeom prst="rect">
            <a:avLst/>
          </a:prstGeom>
          <a:solidFill>
            <a:srgbClr val="FFD8CC">
              <a:alpha val="3568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990600" y="0"/>
            <a:ext cx="181872" cy="6858000"/>
          </a:xfrm>
          <a:prstGeom prst="rect">
            <a:avLst/>
          </a:prstGeom>
          <a:solidFill>
            <a:srgbClr val="FFD8CC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141320" y="0"/>
            <a:ext cx="230280" cy="6858000"/>
          </a:xfrm>
          <a:prstGeom prst="rect">
            <a:avLst/>
          </a:prstGeom>
          <a:solidFill>
            <a:srgbClr val="FFEDE7">
              <a:alpha val="7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106344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EC2AC">
                <a:alpha val="7294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5"/>
          <p:cNvCxnSpPr/>
          <p:nvPr/>
        </p:nvCxnSpPr>
        <p:spPr>
          <a:xfrm>
            <a:off x="914400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FEDE7">
                <a:alpha val="82745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5"/>
          <p:cNvCxnSpPr/>
          <p:nvPr/>
        </p:nvCxnSpPr>
        <p:spPr>
          <a:xfrm>
            <a:off x="854112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5"/>
          <p:cNvCxnSpPr/>
          <p:nvPr/>
        </p:nvCxnSpPr>
        <p:spPr>
          <a:xfrm>
            <a:off x="1726640" y="0"/>
            <a:ext cx="0" cy="6858000"/>
          </a:xfrm>
          <a:prstGeom prst="straightConnector1">
            <a:avLst/>
          </a:prstGeom>
          <a:noFill/>
          <a:ln cap="flat" cmpd="sng" w="28575">
            <a:solidFill>
              <a:srgbClr val="FEC2AC">
                <a:alpha val="819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5"/>
          <p:cNvCxnSpPr/>
          <p:nvPr/>
        </p:nvCxnSpPr>
        <p:spPr>
          <a:xfrm>
            <a:off x="1066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5"/>
          <p:cNvSpPr/>
          <p:nvPr/>
        </p:nvSpPr>
        <p:spPr>
          <a:xfrm>
            <a:off x="1219200" y="0"/>
            <a:ext cx="76200" cy="6858000"/>
          </a:xfrm>
          <a:prstGeom prst="rect">
            <a:avLst/>
          </a:prstGeom>
          <a:solidFill>
            <a:srgbClr val="FEC2AC">
              <a:alpha val="5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324704" y="4866752"/>
            <a:ext cx="641424" cy="6414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091080" y="5500632"/>
            <a:ext cx="137160" cy="1371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1664208" y="5791200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879040" y="4479888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73" name="Google Shape;73;p5"/>
          <p:cNvCxnSpPr/>
          <p:nvPr/>
        </p:nvCxnSpPr>
        <p:spPr>
          <a:xfrm>
            <a:off x="9097944" y="0"/>
            <a:ext cx="0" cy="6858000"/>
          </a:xfrm>
          <a:prstGeom prst="straightConnector1">
            <a:avLst/>
          </a:prstGeom>
          <a:noFill/>
          <a:ln cap="flat" cmpd="thickThin" w="57150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5"/>
          <p:cNvSpPr txBox="1"/>
          <p:nvPr>
            <p:ph idx="12" type="sldNum"/>
          </p:nvPr>
        </p:nvSpPr>
        <p:spPr>
          <a:xfrm>
            <a:off x="1340616" y="4928702"/>
            <a:ext cx="609600" cy="5175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 txBox="1"/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"/>
          <p:cNvSpPr txBox="1"/>
          <p:nvPr>
            <p:ph idx="10" type="dt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1" type="ftr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6"/>
          <p:cNvSpPr txBox="1"/>
          <p:nvPr>
            <p:ph idx="1" type="body"/>
          </p:nvPr>
        </p:nvSpPr>
        <p:spPr>
          <a:xfrm>
            <a:off x="457200" y="16002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3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6"/>
          <p:cNvSpPr txBox="1"/>
          <p:nvPr>
            <p:ph idx="2" type="body"/>
          </p:nvPr>
        </p:nvSpPr>
        <p:spPr>
          <a:xfrm>
            <a:off x="4270248" y="16002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3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/>
          <p:nvPr>
            <p:ph type="title"/>
          </p:nvPr>
        </p:nvSpPr>
        <p:spPr>
          <a:xfrm>
            <a:off x="457200" y="273050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"/>
          <p:cNvSpPr txBox="1"/>
          <p:nvPr>
            <p:ph idx="10" type="dt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"/>
          <p:cNvSpPr txBox="1"/>
          <p:nvPr>
            <p:ph idx="11" type="ftr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7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7"/>
          <p:cNvSpPr txBox="1"/>
          <p:nvPr>
            <p:ph idx="1" type="body"/>
          </p:nvPr>
        </p:nvSpPr>
        <p:spPr>
          <a:xfrm>
            <a:off x="457200" y="2362200"/>
            <a:ext cx="3657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3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7"/>
          <p:cNvSpPr txBox="1"/>
          <p:nvPr>
            <p:ph idx="2" type="body"/>
          </p:nvPr>
        </p:nvSpPr>
        <p:spPr>
          <a:xfrm>
            <a:off x="4371975" y="2362200"/>
            <a:ext cx="3657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3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7"/>
          <p:cNvSpPr/>
          <p:nvPr>
            <p:ph idx="3" type="body"/>
          </p:nvPr>
        </p:nvSpPr>
        <p:spPr>
          <a:xfrm>
            <a:off x="457200" y="1569720"/>
            <a:ext cx="3657600" cy="65836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Font typeface="Century Schoolbook"/>
              <a:buNone/>
              <a:defRPr b="1" sz="2000">
                <a:solidFill>
                  <a:srgbClr val="FFFFFF"/>
                </a:solidFill>
              </a:defRPr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3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7"/>
          <p:cNvSpPr/>
          <p:nvPr>
            <p:ph idx="4" type="body"/>
          </p:nvPr>
        </p:nvSpPr>
        <p:spPr>
          <a:xfrm>
            <a:off x="4343400" y="1569720"/>
            <a:ext cx="3657600" cy="65836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Font typeface="Century Schoolbook"/>
              <a:buNone/>
              <a:defRPr b="1" sz="2000">
                <a:solidFill>
                  <a:srgbClr val="FFFFFF"/>
                </a:solidFill>
              </a:defRPr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3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"/>
          <p:cNvSpPr txBox="1"/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8"/>
          <p:cNvSpPr txBox="1"/>
          <p:nvPr>
            <p:ph idx="10" type="dt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8"/>
          <p:cNvSpPr txBox="1"/>
          <p:nvPr>
            <p:ph idx="11" type="ftr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Google Shape;97;p9"/>
          <p:cNvCxnSpPr/>
          <p:nvPr/>
        </p:nvCxnSpPr>
        <p:spPr>
          <a:xfrm>
            <a:off x="876300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rgbClr val="FEC2AC">
                <a:alpha val="9294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9"/>
          <p:cNvSpPr txBox="1"/>
          <p:nvPr>
            <p:ph type="title"/>
          </p:nvPr>
        </p:nvSpPr>
        <p:spPr>
          <a:xfrm rot="5400000">
            <a:off x="3371850" y="320040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entury Schoolbook"/>
              <a:buNone/>
              <a:defRPr b="1" sz="2000" cap="small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" type="body"/>
          </p:nvPr>
        </p:nvSpPr>
        <p:spPr>
          <a:xfrm>
            <a:off x="6812280" y="274320"/>
            <a:ext cx="1527048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84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12"/>
              <a:buNone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cxnSp>
        <p:nvCxnSpPr>
          <p:cNvPr id="100" name="Google Shape;100;p9"/>
          <p:cNvCxnSpPr/>
          <p:nvPr/>
        </p:nvCxnSpPr>
        <p:spPr>
          <a:xfrm>
            <a:off x="624840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9"/>
          <p:cNvCxnSpPr/>
          <p:nvPr/>
        </p:nvCxnSpPr>
        <p:spPr>
          <a:xfrm>
            <a:off x="6192296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9"/>
          <p:cNvCxnSpPr/>
          <p:nvPr/>
        </p:nvCxnSpPr>
        <p:spPr>
          <a:xfrm>
            <a:off x="8991600" y="0"/>
            <a:ext cx="0" cy="685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9"/>
          <p:cNvSpPr/>
          <p:nvPr/>
        </p:nvSpPr>
        <p:spPr>
          <a:xfrm>
            <a:off x="8839200" y="0"/>
            <a:ext cx="304800" cy="6858000"/>
          </a:xfrm>
          <a:prstGeom prst="rect">
            <a:avLst/>
          </a:prstGeom>
          <a:solidFill>
            <a:srgbClr val="FEC2AC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104" name="Google Shape;104;p9"/>
          <p:cNvCxnSpPr/>
          <p:nvPr/>
        </p:nvCxnSpPr>
        <p:spPr>
          <a:xfrm>
            <a:off x="8915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9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06" name="Google Shape;106;p9"/>
          <p:cNvSpPr txBox="1"/>
          <p:nvPr>
            <p:ph idx="2" type="body"/>
          </p:nvPr>
        </p:nvSpPr>
        <p:spPr>
          <a:xfrm>
            <a:off x="304800" y="274320"/>
            <a:ext cx="5638800" cy="6327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3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9"/>
          <p:cNvSpPr txBox="1"/>
          <p:nvPr>
            <p:ph idx="10" type="dt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9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9"/>
          <p:cNvSpPr txBox="1"/>
          <p:nvPr>
            <p:ph idx="11" type="ftr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Google Shape;111;p10"/>
          <p:cNvCxnSpPr/>
          <p:nvPr/>
        </p:nvCxnSpPr>
        <p:spPr>
          <a:xfrm>
            <a:off x="876300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10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13" name="Google Shape;113;p10"/>
          <p:cNvSpPr txBox="1"/>
          <p:nvPr>
            <p:ph type="title"/>
          </p:nvPr>
        </p:nvSpPr>
        <p:spPr>
          <a:xfrm rot="5400000">
            <a:off x="3350133" y="320040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entury Schoolbook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0"/>
          <p:cNvSpPr/>
          <p:nvPr>
            <p:ph idx="2" type="pic"/>
          </p:nvPr>
        </p:nvSpPr>
        <p:spPr>
          <a:xfrm>
            <a:off x="0" y="0"/>
            <a:ext cx="61722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15" name="Google Shape;115;p10"/>
          <p:cNvSpPr txBox="1"/>
          <p:nvPr>
            <p:ph idx="1" type="body"/>
          </p:nvPr>
        </p:nvSpPr>
        <p:spPr>
          <a:xfrm>
            <a:off x="6765798" y="264795"/>
            <a:ext cx="1524000" cy="4956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SzPts val="840"/>
              <a:buFont typeface="Century Schoolbook"/>
              <a:buNone/>
              <a:defRPr sz="1200"/>
            </a:lvl1pPr>
            <a:lvl2pPr indent="-289560" lvl="1" marL="914400" algn="l">
              <a:spcBef>
                <a:spcPts val="400"/>
              </a:spcBef>
              <a:spcAft>
                <a:spcPts val="0"/>
              </a:spcAft>
              <a:buSzPts val="960"/>
              <a:buChar char="⚫"/>
              <a:defRPr sz="1200"/>
            </a:lvl2pPr>
            <a:lvl3pPr indent="-266700" lvl="2" marL="1371600" algn="l">
              <a:spcBef>
                <a:spcPts val="200"/>
              </a:spcBef>
              <a:spcAft>
                <a:spcPts val="0"/>
              </a:spcAft>
              <a:buSzPts val="600"/>
              <a:buChar char="🞆"/>
              <a:defRPr sz="1000"/>
            </a:lvl3pPr>
            <a:lvl4pPr indent="-262889" lvl="3" marL="1828800" algn="l">
              <a:spcBef>
                <a:spcPts val="180"/>
              </a:spcBef>
              <a:spcAft>
                <a:spcPts val="0"/>
              </a:spcAft>
              <a:buSzPts val="540"/>
              <a:buChar char="🞆"/>
              <a:defRPr sz="900"/>
            </a:lvl4pPr>
            <a:lvl5pPr indent="-267461" lvl="4" marL="2286000" algn="l">
              <a:spcBef>
                <a:spcPts val="180"/>
              </a:spcBef>
              <a:spcAft>
                <a:spcPts val="0"/>
              </a:spcAft>
              <a:buSzPts val="612"/>
              <a:buChar char="⚫"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cxnSp>
        <p:nvCxnSpPr>
          <p:cNvPr id="116" name="Google Shape;116;p10"/>
          <p:cNvCxnSpPr/>
          <p:nvPr/>
        </p:nvCxnSpPr>
        <p:spPr>
          <a:xfrm>
            <a:off x="8991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10"/>
          <p:cNvSpPr/>
          <p:nvPr/>
        </p:nvSpPr>
        <p:spPr>
          <a:xfrm>
            <a:off x="8839200" y="0"/>
            <a:ext cx="304800" cy="6858000"/>
          </a:xfrm>
          <a:prstGeom prst="rect">
            <a:avLst/>
          </a:prstGeom>
          <a:solidFill>
            <a:srgbClr val="FEC2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118" name="Google Shape;118;p10"/>
          <p:cNvCxnSpPr/>
          <p:nvPr/>
        </p:nvCxnSpPr>
        <p:spPr>
          <a:xfrm>
            <a:off x="8915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10"/>
          <p:cNvCxnSpPr/>
          <p:nvPr/>
        </p:nvCxnSpPr>
        <p:spPr>
          <a:xfrm>
            <a:off x="624840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10"/>
          <p:cNvCxnSpPr/>
          <p:nvPr/>
        </p:nvCxnSpPr>
        <p:spPr>
          <a:xfrm>
            <a:off x="6192296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10"/>
          <p:cNvSpPr txBox="1"/>
          <p:nvPr>
            <p:ph idx="10" type="dt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0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10"/>
          <p:cNvSpPr txBox="1"/>
          <p:nvPr>
            <p:ph idx="11" type="ftr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"/>
          <p:cNvSpPr txBox="1"/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 rot="5400000">
            <a:off x="1754124" y="303276"/>
            <a:ext cx="4873752" cy="74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3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0" type="dt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11" type="ftr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1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"/>
          <p:cNvSpPr txBox="1"/>
          <p:nvPr>
            <p:ph type="title"/>
          </p:nvPr>
        </p:nvSpPr>
        <p:spPr>
          <a:xfrm rot="5400000">
            <a:off x="4541838" y="2362202"/>
            <a:ext cx="5851525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3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12"/>
          <p:cNvSpPr txBox="1"/>
          <p:nvPr>
            <p:ph idx="10" type="dt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2"/>
          <p:cNvSpPr txBox="1"/>
          <p:nvPr>
            <p:ph idx="11" type="ftr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2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"/>
          <p:cNvCxnSpPr/>
          <p:nvPr/>
        </p:nvCxnSpPr>
        <p:spPr>
          <a:xfrm>
            <a:off x="876300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rgbClr val="FEC2AC">
                <a:alpha val="9294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1"/>
          <p:cNvSpPr txBox="1"/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  <a:defRPr b="0" i="0" sz="3000" u="none" cap="small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528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  <a:defRPr b="0" i="0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528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297180" lvl="2" marL="1371600" marR="0" rtl="0" algn="l">
              <a:spcBef>
                <a:spcPts val="360"/>
              </a:spcBef>
              <a:spcAft>
                <a:spcPts val="0"/>
              </a:spcAft>
              <a:buClr>
                <a:srgbClr val="DE7530"/>
              </a:buClr>
              <a:buSzPts val="1080"/>
              <a:buFont typeface="Noto Sans Symbols"/>
              <a:buChar char="🞆"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297180" lvl="3" marL="1828800" marR="0" rtl="0" algn="l">
              <a:spcBef>
                <a:spcPts val="360"/>
              </a:spcBef>
              <a:spcAft>
                <a:spcPts val="0"/>
              </a:spcAft>
              <a:buClr>
                <a:srgbClr val="FEC2AC"/>
              </a:buClr>
              <a:buSzPts val="1080"/>
              <a:buFont typeface="Noto Sans Symbols"/>
              <a:buChar char="🞆"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297688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BBC9E9"/>
              </a:buClr>
              <a:buSzPts val="1088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entury Schoolbook"/>
              <a:buChar char="•"/>
              <a:defRPr b="0" i="0" sz="16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281939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FEC2AC"/>
              </a:buClr>
              <a:buSzPts val="840"/>
              <a:buFont typeface="Noto Sans Symbols"/>
              <a:buChar char="⚪"/>
              <a:defRPr b="0" i="0" sz="14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entury Schoolbook"/>
              <a:buChar char="•"/>
              <a:defRPr b="0" i="0" sz="1400" u="none" cap="small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DE7530"/>
              </a:buClr>
              <a:buSzPts val="1400"/>
              <a:buFont typeface="Century Schoolbook"/>
              <a:buChar char="•"/>
              <a:defRPr b="0" i="0" sz="14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cxnSp>
        <p:nvCxnSpPr>
          <p:cNvPr id="15" name="Google Shape;15;p1"/>
          <p:cNvCxnSpPr/>
          <p:nvPr/>
        </p:nvCxnSpPr>
        <p:spPr>
          <a:xfrm>
            <a:off x="76200" y="0"/>
            <a:ext cx="0" cy="6858000"/>
          </a:xfrm>
          <a:prstGeom prst="straightConnector1">
            <a:avLst/>
          </a:prstGeom>
          <a:noFill/>
          <a:ln cap="flat" cmpd="thickThin" w="57150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" name="Google Shape;16;p1"/>
          <p:cNvCxnSpPr/>
          <p:nvPr/>
        </p:nvCxnSpPr>
        <p:spPr>
          <a:xfrm>
            <a:off x="8991600" y="0"/>
            <a:ext cx="0" cy="685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1"/>
          <p:cNvSpPr/>
          <p:nvPr/>
        </p:nvSpPr>
        <p:spPr>
          <a:xfrm>
            <a:off x="8839200" y="0"/>
            <a:ext cx="304800" cy="6858000"/>
          </a:xfrm>
          <a:prstGeom prst="rect">
            <a:avLst/>
          </a:prstGeom>
          <a:solidFill>
            <a:srgbClr val="FEC2AC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8915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0" name="Google Shape;20;p1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iotdesignpro.com/articles/iot-based-robotic-arm-controlling-using-esp32" TargetMode="External"/><Relationship Id="rId4" Type="http://schemas.openxmlformats.org/officeDocument/2006/relationships/hyperlink" Target="https://www.academia.edu/50180450/Design_and_implement_of_robotic_arm_and_control_of_moving_via_IoT_with_Arduino_ESP32" TargetMode="External"/><Relationship Id="rId5" Type="http://schemas.openxmlformats.org/officeDocument/2006/relationships/hyperlink" Target="https://ozrobotics.com/shop/hiwonder-maxarm-robot-arm-powered-by-esp32-support-python-and-arduino-programming-standard-kit/" TargetMode="External"/><Relationship Id="rId6" Type="http://schemas.openxmlformats.org/officeDocument/2006/relationships/hyperlink" Target="https://www.researchgate.net/publication/333886109_A_Cost-Efficient_Multipurpose_Service_Robot_using_Raspberry_Pi_and_6_DOF_Robotic_Arm" TargetMode="External"/><Relationship Id="rId7" Type="http://schemas.openxmlformats.org/officeDocument/2006/relationships/hyperlink" Target="https://grabcad.com/library/robot-arm-83" TargetMode="External"/><Relationship Id="rId8" Type="http://schemas.openxmlformats.org/officeDocument/2006/relationships/hyperlink" Target="https://docs.google.com/spreadsheets/d/1wXcu2AezT9oymwPx0rUag4GGjRIw_IFt9GSfBZX83_Y/edit#gid=0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 txBox="1"/>
          <p:nvPr>
            <p:ph type="ctrTitle"/>
          </p:nvPr>
        </p:nvSpPr>
        <p:spPr>
          <a:xfrm>
            <a:off x="1809720" y="397407"/>
            <a:ext cx="7191436" cy="836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entury Schoolbook"/>
              <a:buNone/>
            </a:pPr>
            <a:r>
              <a:rPr b="1" lang="en-US" sz="2000">
                <a:solidFill>
                  <a:srgbClr val="FF0000"/>
                </a:solidFill>
              </a:rPr>
              <a:t>SCTR’s Pune Institute of Computer Technology, Pune</a:t>
            </a:r>
            <a:br>
              <a:rPr b="1" lang="en-US" sz="4000">
                <a:solidFill>
                  <a:srgbClr val="FF0000"/>
                </a:solidFill>
              </a:rPr>
            </a:br>
            <a:r>
              <a:rPr b="1" lang="en-US" sz="2200"/>
              <a:t>electronics and Telecommunication engineering</a:t>
            </a:r>
            <a:endParaRPr b="1"/>
          </a:p>
        </p:txBody>
      </p:sp>
      <p:sp>
        <p:nvSpPr>
          <p:cNvPr id="141" name="Google Shape;141;p13"/>
          <p:cNvSpPr txBox="1"/>
          <p:nvPr>
            <p:ph idx="1" type="subTitle"/>
          </p:nvPr>
        </p:nvSpPr>
        <p:spPr>
          <a:xfrm>
            <a:off x="2000225" y="4683848"/>
            <a:ext cx="6400800" cy="21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2" marL="914400" rtl="0" algn="l">
              <a:spcBef>
                <a:spcPts val="0"/>
              </a:spcBef>
              <a:spcAft>
                <a:spcPts val="0"/>
              </a:spcAft>
              <a:buSzPct val="60000"/>
              <a:buNone/>
            </a:pPr>
            <a:r>
              <a:rPr b="1" lang="en-US" sz="2600">
                <a:solidFill>
                  <a:schemeClr val="dk1"/>
                </a:solidFill>
              </a:rPr>
              <a:t>By:</a:t>
            </a:r>
            <a:endParaRPr b="1" sz="2600">
              <a:solidFill>
                <a:schemeClr val="dk1"/>
              </a:solidFill>
            </a:endParaRPr>
          </a:p>
          <a:p>
            <a:pPr indent="0" lvl="2" marL="914400" rtl="0" algn="l">
              <a:spcBef>
                <a:spcPts val="0"/>
              </a:spcBef>
              <a:spcAft>
                <a:spcPts val="0"/>
              </a:spcAft>
              <a:buSzPct val="60000"/>
              <a:buNone/>
            </a:pPr>
            <a:r>
              <a:t/>
            </a:r>
            <a:endParaRPr b="1" sz="2600"/>
          </a:p>
          <a:p>
            <a:pPr indent="0" lvl="2" marL="914400" rtl="0" algn="l">
              <a:spcBef>
                <a:spcPts val="0"/>
              </a:spcBef>
              <a:spcAft>
                <a:spcPts val="0"/>
              </a:spcAft>
              <a:buSzPct val="60000"/>
              <a:buNone/>
            </a:pPr>
            <a:r>
              <a:rPr b="1" lang="en-US" sz="2600"/>
              <a:t>1) Vishal Bhokre		32112</a:t>
            </a:r>
            <a:endParaRPr b="1" sz="2600"/>
          </a:p>
          <a:p>
            <a:pPr indent="0" lvl="2" marL="914400" rtl="0" algn="l">
              <a:spcBef>
                <a:spcPts val="481"/>
              </a:spcBef>
              <a:spcAft>
                <a:spcPts val="0"/>
              </a:spcAft>
              <a:buSzPct val="60000"/>
              <a:buNone/>
            </a:pPr>
            <a:r>
              <a:rPr b="1" lang="en-US" sz="2600"/>
              <a:t>2</a:t>
            </a:r>
            <a:r>
              <a:rPr b="1" lang="en-US" sz="2600">
                <a:solidFill>
                  <a:schemeClr val="dk1"/>
                </a:solidFill>
              </a:rPr>
              <a:t>) </a:t>
            </a:r>
            <a:r>
              <a:rPr b="1" lang="en-US" sz="2600"/>
              <a:t>Vedant Butala		</a:t>
            </a:r>
            <a:r>
              <a:rPr b="1" lang="en-US" sz="2600"/>
              <a:t>32113</a:t>
            </a:r>
            <a:endParaRPr/>
          </a:p>
          <a:p>
            <a:pPr indent="0" lvl="2" marL="914400" rtl="0" algn="l">
              <a:spcBef>
                <a:spcPts val="481"/>
              </a:spcBef>
              <a:spcAft>
                <a:spcPts val="0"/>
              </a:spcAft>
              <a:buSzPct val="60000"/>
              <a:buNone/>
            </a:pPr>
            <a:r>
              <a:rPr b="1" lang="en-US" sz="2600"/>
              <a:t>3</a:t>
            </a:r>
            <a:r>
              <a:rPr b="1" lang="en-US" sz="2600">
                <a:solidFill>
                  <a:schemeClr val="dk1"/>
                </a:solidFill>
              </a:rPr>
              <a:t>) </a:t>
            </a:r>
            <a:r>
              <a:rPr b="1" lang="en-US" sz="2600"/>
              <a:t>Sumedh Kasat</a:t>
            </a:r>
            <a:r>
              <a:rPr b="1" lang="en-US" sz="2600">
                <a:solidFill>
                  <a:schemeClr val="dk1"/>
                </a:solidFill>
              </a:rPr>
              <a:t>	</a:t>
            </a:r>
            <a:r>
              <a:rPr b="1" lang="en-US" sz="2600"/>
              <a:t>  </a:t>
            </a:r>
            <a:r>
              <a:rPr b="1" lang="en-US" sz="2600">
                <a:solidFill>
                  <a:schemeClr val="dk1"/>
                </a:solidFill>
              </a:rPr>
              <a:t>	</a:t>
            </a:r>
            <a:r>
              <a:rPr b="1" lang="en-US" sz="2600"/>
              <a:t>32134</a:t>
            </a:r>
            <a:endParaRPr/>
          </a:p>
          <a:p>
            <a:pPr indent="0" lvl="2" marL="914400" rtl="0" algn="l">
              <a:spcBef>
                <a:spcPts val="481"/>
              </a:spcBef>
              <a:spcAft>
                <a:spcPts val="0"/>
              </a:spcAft>
              <a:buSzPct val="60000"/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2916488" y="1919925"/>
            <a:ext cx="49779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lang="en-US" sz="67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Dexterous</a:t>
            </a:r>
            <a:r>
              <a:rPr b="1" i="0" lang="en-US" sz="59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endParaRPr b="1" sz="59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2483768" y="3600297"/>
            <a:ext cx="6400800" cy="466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Guide: </a:t>
            </a:r>
            <a:r>
              <a:rPr b="1" lang="en-US" sz="2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Prof . Lalit Patil</a:t>
            </a:r>
            <a:r>
              <a:rPr b="1" i="0" lang="en-US" sz="2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endParaRPr b="0" i="0" sz="2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pict_logo.jpg" id="144" name="Google Shape;1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20" y="116632"/>
            <a:ext cx="1524000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/>
          <p:nvPr>
            <p:ph type="title"/>
          </p:nvPr>
        </p:nvSpPr>
        <p:spPr>
          <a:xfrm>
            <a:off x="567950" y="181963"/>
            <a:ext cx="74676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entury Schoolbook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355250" y="600175"/>
            <a:ext cx="7893000" cy="51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Challenge and Innovation :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 sz="1800"/>
              <a:t>Crafting a 6-DOF robotic arm with ESP32 and Raspberry Pi 3 is a thrilling challenge.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 sz="1800"/>
              <a:t>Integrating these technologies adds complexity and sparks innovation.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Skill Development :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 sz="1800"/>
              <a:t>Involves honing mechanical, electronic, and coding skills.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 sz="1800"/>
              <a:t>Opportunities to master ESP32 and Raspberry Pi 3 intricacies.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Dynamic Control :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 sz="1800"/>
              <a:t>Achieving a 6-DOF setup allows for intricate control and dynamic response.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 sz="1800"/>
              <a:t>Witnessing precise arm responses becomes a tangible achievement.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Future Automation Insight :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 sz="1800"/>
              <a:t>Offers deep insight into future automation with ESP32 and Raspberry Pi 3.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 sz="1800"/>
              <a:t>Gaining practical knowledge positions you as a contributor to future advancements.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Creating a 6-DOF robotic arm with locomotion using ESP32 and Raspberry Pi 3 isn't just a project; it's a transformative experience propelling you into cutting-edge technology. </a:t>
            </a:r>
            <a:endParaRPr sz="1800"/>
          </a:p>
        </p:txBody>
      </p:sp>
      <p:sp>
        <p:nvSpPr>
          <p:cNvPr id="151" name="Google Shape;151;p14"/>
          <p:cNvSpPr txBox="1"/>
          <p:nvPr>
            <p:ph idx="10" type="dt"/>
          </p:nvPr>
        </p:nvSpPr>
        <p:spPr>
          <a:xfrm>
            <a:off x="179512" y="6473952"/>
            <a:ext cx="1008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10-01-2024</a:t>
            </a:r>
            <a:endParaRPr/>
          </a:p>
        </p:txBody>
      </p:sp>
      <p:sp>
        <p:nvSpPr>
          <p:cNvPr id="152" name="Google Shape;152;p14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554550" y="224863"/>
            <a:ext cx="74676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lang="en-US"/>
              <a:t>Literature survey</a:t>
            </a:r>
            <a:endParaRPr/>
          </a:p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457200" y="943200"/>
            <a:ext cx="7662300" cy="4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Introduction : 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Interest in versatile robotic arms with locomotion, merging agility and mobility.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Focus on 6-DOF arms using ESP32 and Raspberry Pi 3.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Study 1 : "Advanced Robotic Arm Control via IoT with ESP32 and Raspberry Pi 3" (2020)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Features: 6 DOFs, ESP32, Raspberry Pi 3, IoT connectivity.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Insight: Demonstrates advanced control capabilities through IoT.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Source: Academia.edu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Study 2 : "Affordable 3D-Printed 6-DOF Robotic Arm with ESP32 and Raspberry Pi 3" (2021)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Features: 6 DOFs, 3D-printed, Bluetooth control.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Insight: Highlights affordability and flexibility in a 6-DOF context.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Source: Hiwonder</a:t>
            </a:r>
            <a:endParaRPr sz="2000"/>
          </a:p>
        </p:txBody>
      </p:sp>
      <p:sp>
        <p:nvSpPr>
          <p:cNvPr id="159" name="Google Shape;159;p15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15"/>
          <p:cNvSpPr txBox="1"/>
          <p:nvPr>
            <p:ph idx="10" type="dt"/>
          </p:nvPr>
        </p:nvSpPr>
        <p:spPr>
          <a:xfrm>
            <a:off x="179512" y="6473952"/>
            <a:ext cx="1008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10-01-2024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/>
          <p:nvPr>
            <p:ph type="title"/>
          </p:nvPr>
        </p:nvSpPr>
        <p:spPr>
          <a:xfrm>
            <a:off x="457200" y="-12"/>
            <a:ext cx="74676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survey</a:t>
            </a:r>
            <a:endParaRPr/>
          </a:p>
        </p:txBody>
      </p:sp>
      <p:sp>
        <p:nvSpPr>
          <p:cNvPr id="167" name="Google Shape;167;p16"/>
          <p:cNvSpPr txBox="1"/>
          <p:nvPr>
            <p:ph idx="1" type="body"/>
          </p:nvPr>
        </p:nvSpPr>
        <p:spPr>
          <a:xfrm>
            <a:off x="457200" y="1266575"/>
            <a:ext cx="7467600" cy="512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Study 3 : "Integrating Locomotion with a 6-DOF Robotic Arm using ESP32 and Raspberry Pi 3" (2019)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Features: 6 DOFs, mounted on mobile platform, synchronized control with Raspberry Pi 3.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Insight: Successful integration of arm manipulation with mobile locomotion.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Source: Research Hub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Key Trends and Findings : ESP32, Raspberry Pi 3 common for control, showcasing synergy. 3D printing vital for cost-effective 6-DOF fabrication. Trend towards integrating 6-DOF arms with locomotion.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Conclusion : Advances in 6-DOF arms with locomotion, using ESP32 and Raspberry Pi 3. Trends include advanced control, affordability, and arm-locomotion integration. Future research opportunities in refining controls and expanding applications.</a:t>
            </a:r>
            <a:endParaRPr sz="2000"/>
          </a:p>
        </p:txBody>
      </p:sp>
      <p:sp>
        <p:nvSpPr>
          <p:cNvPr id="168" name="Google Shape;168;p16"/>
          <p:cNvSpPr txBox="1"/>
          <p:nvPr>
            <p:ph idx="12" type="sldNum"/>
          </p:nvPr>
        </p:nvSpPr>
        <p:spPr>
          <a:xfrm>
            <a:off x="8129016" y="5734050"/>
            <a:ext cx="609600" cy="521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idx="12" type="sldNum"/>
          </p:nvPr>
        </p:nvSpPr>
        <p:spPr>
          <a:xfrm>
            <a:off x="8129016" y="5734050"/>
            <a:ext cx="609600" cy="521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5" name="Google Shape;175;p17"/>
          <p:cNvPicPr preferRelativeResize="0"/>
          <p:nvPr/>
        </p:nvPicPr>
        <p:blipFill rotWithShape="1">
          <a:blip r:embed="rId3">
            <a:alphaModFix/>
          </a:blip>
          <a:srcRect b="0" l="0" r="0" t="49781"/>
          <a:stretch/>
        </p:blipFill>
        <p:spPr>
          <a:xfrm>
            <a:off x="345488" y="321488"/>
            <a:ext cx="4172450" cy="304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318175"/>
            <a:ext cx="3480825" cy="320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500" y="3521675"/>
            <a:ext cx="4172449" cy="2978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4400" y="3686425"/>
            <a:ext cx="3404626" cy="2551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/>
          <p:nvPr>
            <p:ph type="title"/>
          </p:nvPr>
        </p:nvSpPr>
        <p:spPr>
          <a:xfrm>
            <a:off x="457200" y="274638"/>
            <a:ext cx="7467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entury Schoolbook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84" name="Google Shape;184;p18"/>
          <p:cNvSpPr txBox="1"/>
          <p:nvPr>
            <p:ph idx="1" type="body"/>
          </p:nvPr>
        </p:nvSpPr>
        <p:spPr>
          <a:xfrm>
            <a:off x="457200" y="785375"/>
            <a:ext cx="7671600" cy="57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US" sz="1900"/>
              <a:t>Precise Control : Ensure smooth and accurate movement using ESP32 and servo motors.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US" sz="1900"/>
              <a:t>Object Manipulation : Design the arm to grasp and manipulate objects of different shapes and sizes.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US" sz="1900"/>
              <a:t>Wireless Communication : Utilize ESP32 for wireless control via Wi-Fi or Bluetooth, supporting joystick, web app, or smartphone interfaces.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US" sz="1900"/>
              <a:t>User-Friendly Interface : Create an intuitive control interface for users of all skill levels.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US" sz="1900"/>
              <a:t>Power Efficiency : Optimize battery life or power supply for extended operation.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US" sz="1900"/>
              <a:t>Modular Design : Enable future upgrades with a modular platform for additional sensors, tools, or attachments.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US" sz="1900"/>
              <a:t>Locomotion Integration : Implement effective movement capabilities for the robotic arm.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US" sz="1900"/>
              <a:t>End-Effector Customization : Allow customization of end-effectors for various tasks.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US" sz="1900"/>
              <a:t>Safety Measures : Integrate safety features for obstacle detection and secure operation. </a:t>
            </a:r>
            <a:endParaRPr sz="1900"/>
          </a:p>
        </p:txBody>
      </p:sp>
      <p:sp>
        <p:nvSpPr>
          <p:cNvPr id="185" name="Google Shape;185;p18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79512" y="6473952"/>
            <a:ext cx="1008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10-01-2024</a:t>
            </a:r>
            <a:endParaRPr sz="120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type="title"/>
          </p:nvPr>
        </p:nvSpPr>
        <p:spPr>
          <a:xfrm>
            <a:off x="943371" y="2492896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entury Schoolbook"/>
              <a:buNone/>
            </a:pPr>
            <a:r>
              <a:rPr lang="en-US" sz="3600">
                <a:solidFill>
                  <a:srgbClr val="FF0000"/>
                </a:solidFill>
              </a:rPr>
              <a:t>Block Diagram /working model </a:t>
            </a:r>
            <a:br>
              <a:rPr lang="en-US" sz="3600">
                <a:solidFill>
                  <a:srgbClr val="FF0000"/>
                </a:solidFill>
              </a:rPr>
            </a:br>
            <a:r>
              <a:rPr lang="en-US" sz="3600">
                <a:solidFill>
                  <a:srgbClr val="FF0000"/>
                </a:solidFill>
              </a:rPr>
              <a:t>with animation 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192" name="Google Shape;192;p19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79512" y="6473952"/>
            <a:ext cx="1008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10-01-2024</a:t>
            </a:r>
            <a:endParaRPr sz="120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>
            <p:ph idx="12" type="sldNum"/>
          </p:nvPr>
        </p:nvSpPr>
        <p:spPr>
          <a:xfrm>
            <a:off x="8129016" y="5734050"/>
            <a:ext cx="609600" cy="521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0" name="Google Shape;2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125" y="4869925"/>
            <a:ext cx="2478000" cy="138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 rotWithShape="1">
          <a:blip r:embed="rId4">
            <a:alphaModFix/>
          </a:blip>
          <a:srcRect b="21646" l="16976" r="18644" t="20382"/>
          <a:stretch/>
        </p:blipFill>
        <p:spPr>
          <a:xfrm>
            <a:off x="4952994" y="4645713"/>
            <a:ext cx="2665331" cy="1833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3449987" y="4985548"/>
            <a:ext cx="1154000" cy="115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4125" y="261550"/>
            <a:ext cx="1969900" cy="14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30525" y="261550"/>
            <a:ext cx="1969900" cy="14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1638" y="261550"/>
            <a:ext cx="1969900" cy="14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10400" y="261550"/>
            <a:ext cx="1969900" cy="14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29600" y="1510375"/>
            <a:ext cx="1969900" cy="14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29600" y="2969750"/>
            <a:ext cx="1969900" cy="14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 rotWithShape="1">
          <a:blip r:embed="rId7">
            <a:alphaModFix/>
          </a:blip>
          <a:srcRect b="3751" l="11156" r="61328" t="8598"/>
          <a:stretch/>
        </p:blipFill>
        <p:spPr>
          <a:xfrm>
            <a:off x="1094600" y="1545625"/>
            <a:ext cx="609600" cy="332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/>
          <p:cNvPicPr preferRelativeResize="0"/>
          <p:nvPr/>
        </p:nvPicPr>
        <p:blipFill rotWithShape="1">
          <a:blip r:embed="rId7">
            <a:alphaModFix/>
          </a:blip>
          <a:srcRect b="3751" l="11156" r="61328" t="8598"/>
          <a:stretch/>
        </p:blipFill>
        <p:spPr>
          <a:xfrm>
            <a:off x="2618600" y="1545625"/>
            <a:ext cx="609600" cy="1690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/>
          <p:cNvPicPr preferRelativeResize="0"/>
          <p:nvPr/>
        </p:nvPicPr>
        <p:blipFill rotWithShape="1">
          <a:blip r:embed="rId7">
            <a:alphaModFix/>
          </a:blip>
          <a:srcRect b="3751" l="11156" r="61328" t="8598"/>
          <a:stretch/>
        </p:blipFill>
        <p:spPr>
          <a:xfrm rot="-5400000">
            <a:off x="1823612" y="2509588"/>
            <a:ext cx="609600" cy="139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/>
          <p:cNvPicPr preferRelativeResize="0"/>
          <p:nvPr/>
        </p:nvPicPr>
        <p:blipFill rotWithShape="1">
          <a:blip r:embed="rId7">
            <a:alphaModFix/>
          </a:blip>
          <a:srcRect b="3751" l="11156" r="61328" t="8598"/>
          <a:stretch/>
        </p:blipFill>
        <p:spPr>
          <a:xfrm>
            <a:off x="4142600" y="1545625"/>
            <a:ext cx="609600" cy="1690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/>
          <p:cNvPicPr preferRelativeResize="0"/>
          <p:nvPr/>
        </p:nvPicPr>
        <p:blipFill rotWithShape="1">
          <a:blip r:embed="rId7">
            <a:alphaModFix/>
          </a:blip>
          <a:srcRect b="3751" l="11156" r="61328" t="8598"/>
          <a:stretch/>
        </p:blipFill>
        <p:spPr>
          <a:xfrm rot="-5400000">
            <a:off x="3347612" y="2509588"/>
            <a:ext cx="609600" cy="139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/>
          <p:cNvPicPr preferRelativeResize="0"/>
          <p:nvPr/>
        </p:nvPicPr>
        <p:blipFill rotWithShape="1">
          <a:blip r:embed="rId7">
            <a:alphaModFix/>
          </a:blip>
          <a:srcRect b="3751" l="11156" r="61328" t="8598"/>
          <a:stretch/>
        </p:blipFill>
        <p:spPr>
          <a:xfrm>
            <a:off x="5742800" y="1545625"/>
            <a:ext cx="609600" cy="1690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/>
          <p:cNvPicPr preferRelativeResize="0"/>
          <p:nvPr/>
        </p:nvPicPr>
        <p:blipFill rotWithShape="1">
          <a:blip r:embed="rId7">
            <a:alphaModFix/>
          </a:blip>
          <a:srcRect b="3751" l="11156" r="61328" t="8598"/>
          <a:stretch/>
        </p:blipFill>
        <p:spPr>
          <a:xfrm rot="-5400000">
            <a:off x="4947812" y="2509588"/>
            <a:ext cx="609600" cy="139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/>
          <p:cNvPicPr preferRelativeResize="0"/>
          <p:nvPr/>
        </p:nvPicPr>
        <p:blipFill rotWithShape="1">
          <a:blip r:embed="rId7">
            <a:alphaModFix/>
          </a:blip>
          <a:srcRect b="3751" l="11156" r="61328" t="8598"/>
          <a:stretch/>
        </p:blipFill>
        <p:spPr>
          <a:xfrm rot="-5400000">
            <a:off x="6175287" y="2113163"/>
            <a:ext cx="609600" cy="81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/>
          <p:cNvPicPr preferRelativeResize="0"/>
          <p:nvPr/>
        </p:nvPicPr>
        <p:blipFill rotWithShape="1">
          <a:blip r:embed="rId7">
            <a:alphaModFix/>
          </a:blip>
          <a:srcRect b="3751" l="11156" r="61328" t="8598"/>
          <a:stretch/>
        </p:blipFill>
        <p:spPr>
          <a:xfrm rot="-5400000">
            <a:off x="3822862" y="1232237"/>
            <a:ext cx="609600" cy="547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 txBox="1"/>
          <p:nvPr>
            <p:ph idx="12" type="sldNum"/>
          </p:nvPr>
        </p:nvSpPr>
        <p:spPr>
          <a:xfrm>
            <a:off x="8129016" y="5734050"/>
            <a:ext cx="609600" cy="521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4" name="Google Shape;2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025" y="860450"/>
            <a:ext cx="7760750" cy="53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658500" y="247125"/>
            <a:ext cx="5915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Industrial Application Diagram :  </a:t>
            </a:r>
            <a:endParaRPr b="1" sz="22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/>
          <p:nvPr>
            <p:ph type="title"/>
          </p:nvPr>
        </p:nvSpPr>
        <p:spPr>
          <a:xfrm>
            <a:off x="457200" y="-191250"/>
            <a:ext cx="74676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lang="en-US"/>
              <a:t>resources Required</a:t>
            </a:r>
            <a:endParaRPr/>
          </a:p>
        </p:txBody>
      </p:sp>
      <p:sp>
        <p:nvSpPr>
          <p:cNvPr id="231" name="Google Shape;231;p22"/>
          <p:cNvSpPr txBox="1"/>
          <p:nvPr>
            <p:ph idx="1" type="body"/>
          </p:nvPr>
        </p:nvSpPr>
        <p:spPr>
          <a:xfrm>
            <a:off x="457200" y="860250"/>
            <a:ext cx="7467600" cy="48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0670" lvl="0" marL="274320" rtl="0" algn="just">
              <a:spcBef>
                <a:spcPts val="0"/>
              </a:spcBef>
              <a:spcAft>
                <a:spcPts val="0"/>
              </a:spcAft>
              <a:buSzPts val="1780"/>
              <a:buChar char="🞆"/>
            </a:pPr>
            <a:r>
              <a:rPr lang="en-US" sz="2500"/>
              <a:t>Hardware with specification </a:t>
            </a:r>
            <a:endParaRPr sz="2500"/>
          </a:p>
          <a:p>
            <a:pPr indent="0" lvl="0" marL="27432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232" name="Google Shape;232;p22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p22"/>
          <p:cNvSpPr txBox="1"/>
          <p:nvPr>
            <p:ph idx="12" type="sldNum"/>
          </p:nvPr>
        </p:nvSpPr>
        <p:spPr>
          <a:xfrm>
            <a:off x="7375829" y="6031293"/>
            <a:ext cx="549000" cy="440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4" name="Google Shape;2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74" y="1456825"/>
            <a:ext cx="3761010" cy="210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457174" y="3559262"/>
            <a:ext cx="32685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Schoolbook"/>
              <a:buAutoNum type="arabicParenR"/>
            </a:pP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ESP-32 Module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4218184" y="3559262"/>
            <a:ext cx="32685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2) Servo Motors - MG995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37" name="Google Shape;23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6088" y="1456825"/>
            <a:ext cx="2451373" cy="210243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672757" y="6160164"/>
            <a:ext cx="354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3) Toy Motors and Wheels 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39" name="Google Shape;23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174" y="4064344"/>
            <a:ext cx="3268549" cy="2031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77798" y="4028807"/>
            <a:ext cx="2547933" cy="210243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4483371" y="6160164"/>
            <a:ext cx="233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4) Jumper Cables 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"/>
          <p:cNvSpPr txBox="1"/>
          <p:nvPr>
            <p:ph idx="12" type="sldNum"/>
          </p:nvPr>
        </p:nvSpPr>
        <p:spPr>
          <a:xfrm>
            <a:off x="8129016" y="5734050"/>
            <a:ext cx="609600" cy="521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8" name="Google Shape;248;p23"/>
          <p:cNvPicPr preferRelativeResize="0"/>
          <p:nvPr/>
        </p:nvPicPr>
        <p:blipFill rotWithShape="1">
          <a:blip r:embed="rId3">
            <a:alphaModFix/>
          </a:blip>
          <a:srcRect b="21646" l="16976" r="18644" t="20382"/>
          <a:stretch/>
        </p:blipFill>
        <p:spPr>
          <a:xfrm>
            <a:off x="370675" y="229650"/>
            <a:ext cx="4066751" cy="279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/>
          <p:cNvPicPr preferRelativeResize="0"/>
          <p:nvPr/>
        </p:nvPicPr>
        <p:blipFill rotWithShape="1">
          <a:blip r:embed="rId4">
            <a:alphaModFix/>
          </a:blip>
          <a:srcRect b="50514" l="46822" r="0" t="0"/>
          <a:stretch/>
        </p:blipFill>
        <p:spPr>
          <a:xfrm>
            <a:off x="4793226" y="76450"/>
            <a:ext cx="3335799" cy="310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650" y="3180625"/>
            <a:ext cx="3335800" cy="295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/>
        </p:nvSpPr>
        <p:spPr>
          <a:xfrm>
            <a:off x="1021650" y="2782275"/>
            <a:ext cx="2764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5) PS-4 Controller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4175125" y="3303375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6) </a:t>
            </a: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3D Prints or Laser Cut Material  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496750" y="5977950"/>
            <a:ext cx="32436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7) PCB Breakout Board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 txBox="1"/>
          <p:nvPr>
            <p:ph type="title"/>
          </p:nvPr>
        </p:nvSpPr>
        <p:spPr>
          <a:xfrm>
            <a:off x="457200" y="-327762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lang="en-US"/>
              <a:t>resources Required</a:t>
            </a:r>
            <a:endParaRPr/>
          </a:p>
        </p:txBody>
      </p:sp>
      <p:sp>
        <p:nvSpPr>
          <p:cNvPr id="259" name="Google Shape;259;p24"/>
          <p:cNvSpPr txBox="1"/>
          <p:nvPr>
            <p:ph idx="1" type="body"/>
          </p:nvPr>
        </p:nvSpPr>
        <p:spPr>
          <a:xfrm>
            <a:off x="457200" y="877050"/>
            <a:ext cx="7467600" cy="22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0670" lvl="0" marL="274320" rtl="0" algn="just">
              <a:spcBef>
                <a:spcPts val="0"/>
              </a:spcBef>
              <a:spcAft>
                <a:spcPts val="0"/>
              </a:spcAft>
              <a:buSzPts val="1780"/>
              <a:buChar char="🞆"/>
            </a:pPr>
            <a:r>
              <a:rPr lang="en-US" sz="2500"/>
              <a:t>Software with version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 </a:t>
            </a:r>
            <a:br>
              <a:rPr lang="en-US" sz="2500"/>
            </a:br>
            <a:endParaRPr sz="2500"/>
          </a:p>
        </p:txBody>
      </p:sp>
      <p:sp>
        <p:nvSpPr>
          <p:cNvPr id="260" name="Google Shape;260;p24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1" name="Google Shape;2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529150"/>
            <a:ext cx="3124350" cy="213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/>
        </p:nvSpPr>
        <p:spPr>
          <a:xfrm>
            <a:off x="519263" y="3663775"/>
            <a:ext cx="3031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Schoolbook"/>
              <a:buAutoNum type="arabicParenR"/>
            </a:pP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Fusion 360 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63" name="Google Shape;26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6525" y="1349796"/>
            <a:ext cx="2501100" cy="1297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5088" y="2383430"/>
            <a:ext cx="3003937" cy="137302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4659513" y="3429000"/>
            <a:ext cx="39351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2) KiCAD / Altium Designer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66" name="Google Shape;266;p24"/>
          <p:cNvSpPr txBox="1"/>
          <p:nvPr>
            <p:ph idx="12" type="sldNum"/>
          </p:nvPr>
        </p:nvSpPr>
        <p:spPr>
          <a:xfrm>
            <a:off x="7151777" y="6407481"/>
            <a:ext cx="478500" cy="372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7" name="Google Shape;26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238" y="4184875"/>
            <a:ext cx="3093280" cy="1967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1009" y="4127038"/>
            <a:ext cx="3255816" cy="18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488238" y="6152225"/>
            <a:ext cx="30933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3) Arduino IDE 2.2.1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4358369" y="6056763"/>
            <a:ext cx="2501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4) SixAxisPairTool 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/>
          <p:nvPr>
            <p:ph type="title"/>
          </p:nvPr>
        </p:nvSpPr>
        <p:spPr>
          <a:xfrm>
            <a:off x="405213" y="-16755"/>
            <a:ext cx="74676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lang="en-US"/>
              <a:t>Gantt Chart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276" name="Google Shape;276;p25"/>
          <p:cNvSpPr txBox="1"/>
          <p:nvPr>
            <p:ph idx="10" type="dt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10-01-2024</a:t>
            </a:r>
            <a:endParaRPr/>
          </a:p>
        </p:txBody>
      </p:sp>
      <p:sp>
        <p:nvSpPr>
          <p:cNvPr id="277" name="Google Shape;277;p25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8" name="Google Shape;278;p25"/>
          <p:cNvSpPr txBox="1"/>
          <p:nvPr>
            <p:ph idx="11" type="ftr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 &lt;Class&gt;</a:t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>
            <a:off x="179512" y="1384290"/>
            <a:ext cx="822382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80" name="Google Shape;280;p25"/>
          <p:cNvPicPr preferRelativeResize="0"/>
          <p:nvPr/>
        </p:nvPicPr>
        <p:blipFill rotWithShape="1">
          <a:blip r:embed="rId3">
            <a:alphaModFix/>
          </a:blip>
          <a:srcRect b="58646" l="37363" r="19720" t="36906"/>
          <a:stretch/>
        </p:blipFill>
        <p:spPr>
          <a:xfrm>
            <a:off x="386075" y="688237"/>
            <a:ext cx="7810675" cy="6463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1" name="Google Shape;281;p25"/>
          <p:cNvGraphicFramePr/>
          <p:nvPr/>
        </p:nvGraphicFramePr>
        <p:xfrm>
          <a:off x="386088" y="141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{7D5B099E-E29B-4AE7-9C7B-90C4F69C759A}</a:tableStyleId>
              </a:tblPr>
              <a:tblGrid>
                <a:gridCol w="494250"/>
                <a:gridCol w="1336825"/>
                <a:gridCol w="542850"/>
                <a:gridCol w="494250"/>
                <a:gridCol w="494250"/>
                <a:gridCol w="494250"/>
                <a:gridCol w="494250"/>
                <a:gridCol w="494250"/>
                <a:gridCol w="494250"/>
                <a:gridCol w="494250"/>
                <a:gridCol w="494250"/>
                <a:gridCol w="494250"/>
                <a:gridCol w="494250"/>
                <a:gridCol w="494250"/>
              </a:tblGrid>
              <a:tr h="438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Sr. No.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Task Name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11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Week 12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441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Research &amp; Documentation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4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CAD Design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4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Electronics Research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62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Mechanical Manufacturing Chassis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8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Electronics Development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62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Mechanical Manufacturing Robotic Arm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4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Coding and Planning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Mechanical Final Assembly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Electronics Assembly and Testing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Coding and Complete Integration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1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Final Assembly and Testing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 txBox="1"/>
          <p:nvPr>
            <p:ph type="title"/>
          </p:nvPr>
        </p:nvSpPr>
        <p:spPr>
          <a:xfrm>
            <a:off x="457200" y="274644"/>
            <a:ext cx="74676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entury Schoolbook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287" name="Google Shape;287;p26"/>
          <p:cNvSpPr txBox="1"/>
          <p:nvPr>
            <p:ph idx="1" type="body"/>
          </p:nvPr>
        </p:nvSpPr>
        <p:spPr>
          <a:xfrm>
            <a:off x="457200" y="888425"/>
            <a:ext cx="7671900" cy="5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Mohd Ashiq Kamaril Yusoff's, Reza Ezuan Samin, Babul Salam Ksm Kader Ibrahim, “Wireless Mobile Robotic Arm”, ELSEVIER, ResearchGate,  December 2012, 1072-1078. </a:t>
            </a:r>
            <a:endParaRPr sz="20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u="sng">
                <a:solidFill>
                  <a:schemeClr val="hlink"/>
                </a:solidFill>
                <a:hlinkClick r:id="rId3"/>
              </a:rPr>
              <a:t>https://iotdesignpro.com/articles/iot-based-robotic-arm-controlling-using-esp32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u="sng">
                <a:solidFill>
                  <a:schemeClr val="hlink"/>
                </a:solidFill>
                <a:hlinkClick r:id="rId4"/>
              </a:rPr>
              <a:t>https://www.academia.edu/50180450/Design_and_implement_of_robotic_arm_and_control_of_moving_via_IoT_with_Arduino_ESP32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u="sng">
                <a:solidFill>
                  <a:schemeClr val="hlink"/>
                </a:solidFill>
                <a:hlinkClick r:id="rId5"/>
              </a:rPr>
              <a:t>https://ozrobotics.com/shop/hiwonder-maxarm-robot-arm-powered-by-esp32-support-python-and-arduino-programming-standard-kit/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u="sng">
                <a:solidFill>
                  <a:schemeClr val="hlink"/>
                </a:solidFill>
                <a:hlinkClick r:id="rId6"/>
              </a:rPr>
              <a:t>https://www.researchgate.net/publication/333886109_A_Cost-Efficient_Multipurpose_Service_Robot_using_Raspberry_Pi_and_6_DOF_Robotic_Arm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u="sng">
                <a:solidFill>
                  <a:schemeClr val="hlink"/>
                </a:solidFill>
                <a:hlinkClick r:id="rId7"/>
              </a:rPr>
              <a:t>https://grabcad.com/library/robot-arm-83</a:t>
            </a:r>
            <a:r>
              <a:rPr lang="en-US" sz="2000"/>
              <a:t> 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u="sng">
                <a:solidFill>
                  <a:schemeClr val="hlink"/>
                </a:solidFill>
                <a:hlinkClick r:id="rId8"/>
              </a:rPr>
              <a:t>https://docs.google.com/spreadsheets/d/1wXcu2AezT9oymwPx0rUag4GGjRIw_IFt9GSfBZX83_Y/edit#gid=0</a:t>
            </a:r>
            <a:r>
              <a:rPr lang="en-US" sz="2000"/>
              <a:t> </a:t>
            </a:r>
            <a:endParaRPr sz="2000"/>
          </a:p>
        </p:txBody>
      </p:sp>
      <p:sp>
        <p:nvSpPr>
          <p:cNvPr id="288" name="Google Shape;288;p26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179512" y="6473952"/>
            <a:ext cx="1008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10-01-2024</a:t>
            </a:r>
            <a:endParaRPr sz="120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"/>
          <p:cNvSpPr txBox="1"/>
          <p:nvPr>
            <p:ph idx="12" type="sldNum"/>
          </p:nvPr>
        </p:nvSpPr>
        <p:spPr>
          <a:xfrm>
            <a:off x="8129016" y="5734050"/>
            <a:ext cx="609600" cy="521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6" name="Google Shape;296;p27"/>
          <p:cNvSpPr txBox="1"/>
          <p:nvPr/>
        </p:nvSpPr>
        <p:spPr>
          <a:xfrm>
            <a:off x="3072000" y="2921100"/>
            <a:ext cx="3000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500">
                <a:solidFill>
                  <a:srgbClr val="FF99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Thanks</a:t>
            </a:r>
            <a:endParaRPr b="1" sz="5500">
              <a:solidFill>
                <a:srgbClr val="FF9900"/>
              </a:solidFill>
            </a:endParaRPr>
          </a:p>
        </p:txBody>
      </p:sp>
      <p:pic>
        <p:nvPicPr>
          <p:cNvPr id="297" name="Google Shape;29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300" y="228600"/>
            <a:ext cx="3780100" cy="2590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175" y="3871575"/>
            <a:ext cx="3780100" cy="2692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5375" y="4050654"/>
            <a:ext cx="3780100" cy="2584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228600"/>
            <a:ext cx="3469674" cy="2692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iel">
  <a:themeElements>
    <a:clrScheme name="Oriel">
      <a:dk1>
        <a:srgbClr val="000000"/>
      </a:dk1>
      <a:lt1>
        <a:srgbClr val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