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Century Schoolbook" panose="02040604050505020304" pitchFamily="18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E8FAEA-D83C-4EA9-A15C-F77C2DAE6D4F}">
  <a:tblStyle styleId="{BEE8FAEA-D83C-4EA9-A15C-F77C2DAE6D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13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f22e678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5f22e678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265f22e6789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5f22e678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5f22e6789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65f22e6789_1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5f22e6789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5f22e6789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65f22e6789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2a478583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2a478583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b2a478583f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65f22e6789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65f22e6789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65f22e6789_1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2a478583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2a478583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b2a478583f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 rot="5400000">
            <a:off x="7764621" y="1174097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 rot="5400000">
            <a:off x="7077269" y="4181669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>
                <a:alpha val="7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2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FEDE7">
                <a:alpha val="82745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2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2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EC2AC">
                <a:alpha val="8196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2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2"/>
          <p:cNvCxnSpPr/>
          <p:nvPr/>
        </p:nvCxnSpPr>
        <p:spPr>
          <a:xfrm>
            <a:off x="9113856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2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09632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64208" y="578815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2" name="Google Shape;42;p2"/>
          <p:cNvSpPr txBox="1">
            <a:spLocks noGrp="1"/>
          </p:cNvSpPr>
          <p:nvPr>
            <p:ph type="sldNum" idx="12"/>
          </p:nvPr>
        </p:nvSpPr>
        <p:spPr>
          <a:xfrm>
            <a:off x="1325544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sz="3000" b="1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>
                <a:solidFill>
                  <a:schemeClr val="lt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 rot="5400000">
            <a:off x="7763256" y="1170432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 rot="5400000">
            <a:off x="7077456" y="41788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>
                <a:alpha val="7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5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FEDE7">
                <a:alpha val="82745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5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5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EC2AC">
                <a:alpha val="8196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5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5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324704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664208" y="579120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879040" y="447988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9097944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5"/>
          <p:cNvSpPr txBox="1">
            <a:spLocks noGrp="1"/>
          </p:cNvSpPr>
          <p:nvPr>
            <p:ph type="sldNum" idx="12"/>
          </p:nvPr>
        </p:nvSpPr>
        <p:spPr>
          <a:xfrm>
            <a:off x="1340616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body" idx="2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2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body" idx="3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>
            <a:spLocks noGrp="1"/>
          </p:cNvSpPr>
          <p:nvPr>
            <p:ph type="body" idx="4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9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body" idx="1"/>
          </p:nvPr>
        </p:nvSpPr>
        <p:spPr>
          <a:xfrm>
            <a:off x="6812280" y="274320"/>
            <a:ext cx="1527048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84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12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0" name="Google Shape;100;p9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9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9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9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9"/>
          <p:cNvSpPr txBox="1">
            <a:spLocks noGrp="1"/>
          </p:cNvSpPr>
          <p:nvPr>
            <p:ph type="body" idx="2"/>
          </p:nvPr>
        </p:nvSpPr>
        <p:spPr>
          <a:xfrm>
            <a:off x="304800" y="274320"/>
            <a:ext cx="5638800" cy="632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0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0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3" name="Google Shape;113;p10"/>
          <p:cNvSpPr txBox="1"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0"/>
          <p:cNvSpPr>
            <a:spLocks noGrp="1"/>
          </p:cNvSpPr>
          <p:nvPr>
            <p:ph type="pic" idx="2"/>
          </p:nvPr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5" name="Google Shape;115;p10"/>
          <p:cNvSpPr txBox="1">
            <a:spLocks noGrp="1"/>
          </p:cNvSpPr>
          <p:nvPr>
            <p:ph type="body" idx="1"/>
          </p:nvPr>
        </p:nvSpPr>
        <p:spPr>
          <a:xfrm>
            <a:off x="6765798" y="264795"/>
            <a:ext cx="1524000" cy="495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SzPts val="840"/>
              <a:buFont typeface="Century Schoolbook"/>
              <a:buNone/>
              <a:defRPr sz="1200"/>
            </a:lvl1pPr>
            <a:lvl2pPr marL="914400" lvl="1" indent="-289560" algn="l">
              <a:spcBef>
                <a:spcPts val="400"/>
              </a:spcBef>
              <a:spcAft>
                <a:spcPts val="0"/>
              </a:spcAft>
              <a:buSzPts val="960"/>
              <a:buChar char="⚫"/>
              <a:defRPr sz="1200"/>
            </a:lvl2pPr>
            <a:lvl3pPr marL="1371600" lvl="2" indent="-266700" algn="l">
              <a:spcBef>
                <a:spcPts val="200"/>
              </a:spcBef>
              <a:spcAft>
                <a:spcPts val="0"/>
              </a:spcAft>
              <a:buSzPts val="600"/>
              <a:buChar char="🞆"/>
              <a:defRPr sz="1000"/>
            </a:lvl3pPr>
            <a:lvl4pPr marL="1828800" lvl="3" indent="-262889" algn="l">
              <a:spcBef>
                <a:spcPts val="180"/>
              </a:spcBef>
              <a:spcAft>
                <a:spcPts val="0"/>
              </a:spcAft>
              <a:buSzPts val="540"/>
              <a:buChar char="🞆"/>
              <a:defRPr sz="900"/>
            </a:lvl4pPr>
            <a:lvl5pPr marL="2286000" lvl="4" indent="-267461" algn="l">
              <a:spcBef>
                <a:spcPts val="180"/>
              </a:spcBef>
              <a:spcAft>
                <a:spcPts val="0"/>
              </a:spcAft>
              <a:buSzPts val="612"/>
              <a:buChar char="⚫"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6" name="Google Shape;116;p10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10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18" name="Google Shape;118;p10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0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10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10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 rot="5400000">
            <a:off x="1754124" y="303276"/>
            <a:ext cx="4873752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 rot="5400000">
            <a:off x="4541838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sz="30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528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5280" algn="l" rtl="0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297180" algn="l" rtl="0">
              <a:spcBef>
                <a:spcPts val="360"/>
              </a:spcBef>
              <a:spcAft>
                <a:spcPts val="0"/>
              </a:spcAft>
              <a:buClr>
                <a:srgbClr val="DE7530"/>
              </a:buClr>
              <a:buSzPts val="1080"/>
              <a:buFont typeface="Noto Sans Symbols"/>
              <a:buChar char="🞆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297180" algn="l" rtl="0">
              <a:spcBef>
                <a:spcPts val="360"/>
              </a:spcBef>
              <a:spcAft>
                <a:spcPts val="0"/>
              </a:spcAft>
              <a:buClr>
                <a:srgbClr val="FEC2AC"/>
              </a:buClr>
              <a:buSzPts val="1080"/>
              <a:buFont typeface="Noto Sans Symbols"/>
              <a:buChar char="🞆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688" algn="l" rtl="0">
              <a:spcBef>
                <a:spcPts val="320"/>
              </a:spcBef>
              <a:spcAft>
                <a:spcPts val="0"/>
              </a:spcAft>
              <a:buClr>
                <a:srgbClr val="BBC9E9"/>
              </a:buClr>
              <a:buSzPts val="1088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sz="14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wXcu2AezT9oymwPx0rUag4GGjRIw_IFt9GSfBZX83_Y/edit#gid=0" TargetMode="External"/><Relationship Id="rId3" Type="http://schemas.openxmlformats.org/officeDocument/2006/relationships/hyperlink" Target="https://iotdesignpro.com/articles/iot-based-robotic-arm-controlling-using-esp32" TargetMode="External"/><Relationship Id="rId7" Type="http://schemas.openxmlformats.org/officeDocument/2006/relationships/hyperlink" Target="https://grabcad.com/library/robot-arm-83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33886109_A_Cost-Efficient_Multipurpose_Service_Robot_using_Raspberry_Pi_and_6_DOF_Robotic_Arm" TargetMode="External"/><Relationship Id="rId5" Type="http://schemas.openxmlformats.org/officeDocument/2006/relationships/hyperlink" Target="https://ozrobotics.com/shop/hiwonder-maxarm-robot-arm-powered-by-esp32-support-python-and-arduino-programming-standard-kit/" TargetMode="External"/><Relationship Id="rId4" Type="http://schemas.openxmlformats.org/officeDocument/2006/relationships/hyperlink" Target="https://www.academia.edu/50180450/Design_and_implement_of_robotic_arm_and_control_of_moving_via_IoT_with_Arduino_ESP3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ctrTitle"/>
          </p:nvPr>
        </p:nvSpPr>
        <p:spPr>
          <a:xfrm>
            <a:off x="1809720" y="397407"/>
            <a:ext cx="7191436" cy="83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entury Schoolbook"/>
              <a:buNone/>
            </a:pPr>
            <a:r>
              <a:rPr lang="en-US" sz="2000" b="1">
                <a:solidFill>
                  <a:srgbClr val="FF0000"/>
                </a:solidFill>
              </a:rPr>
              <a:t>SCTR’s Pune Institute of Computer Technology, Pune</a:t>
            </a:r>
            <a:br>
              <a:rPr lang="en-US" sz="4000" b="1">
                <a:solidFill>
                  <a:srgbClr val="FF0000"/>
                </a:solidFill>
              </a:rPr>
            </a:br>
            <a:r>
              <a:rPr lang="en-US" sz="2200" b="1"/>
              <a:t>electronics and Telecommunication engineering</a:t>
            </a:r>
            <a:endParaRPr b="1"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2000225" y="4683848"/>
            <a:ext cx="6400800" cy="21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600" b="1">
                <a:solidFill>
                  <a:schemeClr val="dk1"/>
                </a:solidFill>
              </a:rPr>
              <a:t>By:</a:t>
            </a:r>
            <a:endParaRPr sz="2600" b="1">
              <a:solidFill>
                <a:schemeClr val="dk1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sz="2600" b="1"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600" b="1"/>
              <a:t>1) Vishal Bhokre		32112</a:t>
            </a:r>
            <a:endParaRPr sz="2600" b="1"/>
          </a:p>
          <a:p>
            <a:pPr marL="914400" lvl="2" indent="0" algn="l" rtl="0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r>
              <a:rPr lang="en-US" sz="2600" b="1"/>
              <a:t>2</a:t>
            </a:r>
            <a:r>
              <a:rPr lang="en-US" sz="2600" b="1">
                <a:solidFill>
                  <a:schemeClr val="dk1"/>
                </a:solidFill>
              </a:rPr>
              <a:t>) </a:t>
            </a:r>
            <a:r>
              <a:rPr lang="en-US" sz="2600" b="1"/>
              <a:t>Vedant Butala		32113</a:t>
            </a:r>
            <a:endParaRPr/>
          </a:p>
          <a:p>
            <a:pPr marL="914400" lvl="2" indent="0" algn="l" rtl="0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r>
              <a:rPr lang="en-US" sz="2600" b="1"/>
              <a:t>3</a:t>
            </a:r>
            <a:r>
              <a:rPr lang="en-US" sz="2600" b="1">
                <a:solidFill>
                  <a:schemeClr val="dk1"/>
                </a:solidFill>
              </a:rPr>
              <a:t>) </a:t>
            </a:r>
            <a:r>
              <a:rPr lang="en-US" sz="2600" b="1"/>
              <a:t>Sumedh Kasat</a:t>
            </a:r>
            <a:r>
              <a:rPr lang="en-US" sz="2600" b="1">
                <a:solidFill>
                  <a:schemeClr val="dk1"/>
                </a:solidFill>
              </a:rPr>
              <a:t>	</a:t>
            </a:r>
            <a:r>
              <a:rPr lang="en-US" sz="2600" b="1"/>
              <a:t>  </a:t>
            </a:r>
            <a:r>
              <a:rPr lang="en-US" sz="2600" b="1">
                <a:solidFill>
                  <a:schemeClr val="dk1"/>
                </a:solidFill>
              </a:rPr>
              <a:t>	</a:t>
            </a:r>
            <a:r>
              <a:rPr lang="en-US" sz="2600" b="1"/>
              <a:t>32134</a:t>
            </a:r>
            <a:endParaRPr/>
          </a:p>
          <a:p>
            <a:pPr marL="914400" lvl="2" indent="0" algn="l" rtl="0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endParaRPr sz="2600">
              <a:solidFill>
                <a:schemeClr val="dk1"/>
              </a:solidFill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916488" y="1919925"/>
            <a:ext cx="4977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lang="en-US" sz="6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Dexterous</a:t>
            </a:r>
            <a:r>
              <a:rPr lang="en-US" sz="59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 sz="59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483768" y="3600297"/>
            <a:ext cx="6400800" cy="46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44" name="Google Shape;144;p13" descr="pict_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20" y="116632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title"/>
          </p:nvPr>
        </p:nvSpPr>
        <p:spPr>
          <a:xfrm>
            <a:off x="567950" y="181963"/>
            <a:ext cx="74676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body" idx="1"/>
          </p:nvPr>
        </p:nvSpPr>
        <p:spPr>
          <a:xfrm>
            <a:off x="355250" y="600175"/>
            <a:ext cx="7893000" cy="51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Challenge and Innovation 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Crafting a 6-DOF robotic arm with ESP32 and Raspberry Pi 3 is a thrilling challenge.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Integrating these technologies adds complexity and sparks innovation.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Skill Development 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Involves honing mechanical, electronic, and coding skills.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Opportunities to master ESP32 and Raspberry Pi 3 intricacies.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Dynamic Control 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Achieving a 6-DOF setup allows for intricate control and dynamic response.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Witnessing precise arm responses becomes a tangible achievement.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Future Automation Insight 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Offers deep insight into future automation with ESP32 and Raspberry Pi 3.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Gaining practical knowledge positions you as a contributor to future advancements.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Creating a 6-DOF robotic arm with locomotion using ESP32 and Raspberry Pi 3 isn't just a project; it's a transformative experience propelling you into cutting-edge technology. </a:t>
            </a:r>
            <a:endParaRPr sz="1800"/>
          </a:p>
        </p:txBody>
      </p:sp>
      <p:sp>
        <p:nvSpPr>
          <p:cNvPr id="151" name="Google Shape;151;p14"/>
          <p:cNvSpPr txBox="1">
            <a:spLocks noGrp="1"/>
          </p:cNvSpPr>
          <p:nvPr>
            <p:ph type="dt" idx="10"/>
          </p:nvPr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>
            <a:spLocks noGrp="1"/>
          </p:cNvSpPr>
          <p:nvPr>
            <p:ph type="title"/>
          </p:nvPr>
        </p:nvSpPr>
        <p:spPr>
          <a:xfrm>
            <a:off x="554550" y="224863"/>
            <a:ext cx="74676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1"/>
          </p:nvPr>
        </p:nvSpPr>
        <p:spPr>
          <a:xfrm>
            <a:off x="457200" y="943200"/>
            <a:ext cx="7662300" cy="4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Introduction : 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Interest in versatile robotic arms with locomotion, merging agility and mobility.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Focus on 6-DOF arms using ESP32 and Raspberry Pi 3.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1 : "Advanced Robotic Arm Control via IoT with ESP32 and Raspberry Pi 3" (2020)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ESP32, Raspberry Pi 3, IoT connectivity.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Demonstrates advanced control capabilities through IoT.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Academia.edu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2 : "Affordable 3D-Printed 6-DOF Robotic Arm with ESP32 and Raspberry Pi 3" (2021)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3D-printed, Bluetooth control.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Highlights affordability and flexibility in a 6-DOF context.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Hiwonder</a:t>
            </a:r>
            <a:endParaRPr sz="2000"/>
          </a:p>
        </p:txBody>
      </p:sp>
      <p:sp>
        <p:nvSpPr>
          <p:cNvPr id="159" name="Google Shape;159;p15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dt" idx="10"/>
          </p:nvPr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>
            <a:spLocks noGrp="1"/>
          </p:cNvSpPr>
          <p:nvPr>
            <p:ph type="title"/>
          </p:nvPr>
        </p:nvSpPr>
        <p:spPr>
          <a:xfrm>
            <a:off x="457200" y="-12"/>
            <a:ext cx="7467600" cy="1143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body" idx="1"/>
          </p:nvPr>
        </p:nvSpPr>
        <p:spPr>
          <a:xfrm>
            <a:off x="457200" y="1266575"/>
            <a:ext cx="7467600" cy="512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3 : "Integrating Locomotion with a 6-DOF Robotic Arm using ESP32 and Raspberry Pi 3" (2019)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mounted on mobile platform, synchronized control with Raspberry Pi 3.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Successful integration of arm manipulation with mobile locomotion.</a:t>
            </a:r>
            <a:endParaRPr sz="2000"/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Research Hub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Key Trends and Findings : ESP32, Raspberry Pi 3 common for control, showcasing synergy. 3D printing vital for cost-effective 6-DOF fabrication. Trend towards integrating 6-DOF arms with locomotion.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Conclusion : Advances in 6-DOF arms with locomotion, using ESP32 and Raspberry Pi 3. Trends include advanced control, affordability, and arm-locomotion integration. Future research opportunities in refining controls and expanding applications.</a:t>
            </a:r>
            <a:endParaRPr sz="200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5" name="Google Shape;175;p17"/>
          <p:cNvPicPr preferRelativeResize="0"/>
          <p:nvPr/>
        </p:nvPicPr>
        <p:blipFill rotWithShape="1">
          <a:blip r:embed="rId3">
            <a:alphaModFix/>
          </a:blip>
          <a:srcRect t="49781"/>
          <a:stretch/>
        </p:blipFill>
        <p:spPr>
          <a:xfrm>
            <a:off x="345488" y="321488"/>
            <a:ext cx="4172450" cy="30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318175"/>
            <a:ext cx="3480825" cy="32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" y="3521675"/>
            <a:ext cx="4172449" cy="2978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3686425"/>
            <a:ext cx="3404626" cy="255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body" idx="1"/>
          </p:nvPr>
        </p:nvSpPr>
        <p:spPr>
          <a:xfrm>
            <a:off x="457200" y="785375"/>
            <a:ext cx="7671600" cy="5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Precise Control : Ensure smooth and accurate movement using ESP32 and servo motors.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Object Manipulation : Design the arm to grasp and manipulate objects of different shapes and sizes.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Wireless Communication : Utilize ESP32 for wireless control via Wi-Fi or Bluetooth, supporting joystick, web app, or smartphone interfaces.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User-Friendly Interface : Create an intuitive control interface for users of all skill levels.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Power Efficiency : Optimize battery life or power supply for extended operation.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Modular Design : Enable future upgrades with a modular platform for additional sensors, tools, or attachments.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Locomotion Integration : Implement effective movement capabilities for the robotic arm.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End-Effector Customization : Allow customization of end-effectors for various tasks.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Safety Measures : Integrate safety features for obstacle detection and secure operation. </a:t>
            </a:r>
            <a:endParaRPr sz="1900"/>
          </a:p>
        </p:txBody>
      </p:sp>
      <p:sp>
        <p:nvSpPr>
          <p:cNvPr id="185" name="Google Shape;185;p18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943371" y="2492896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Schoolbook"/>
              <a:buNone/>
            </a:pPr>
            <a:r>
              <a:rPr lang="en-US" sz="3600">
                <a:solidFill>
                  <a:srgbClr val="FF0000"/>
                </a:solidFill>
              </a:rPr>
              <a:t>Block Diagram /working model </a:t>
            </a:r>
            <a:br>
              <a:rPr lang="en-US" sz="3600">
                <a:solidFill>
                  <a:srgbClr val="FF0000"/>
                </a:solidFill>
              </a:rPr>
            </a:br>
            <a:r>
              <a:rPr lang="en-US" sz="3600">
                <a:solidFill>
                  <a:srgbClr val="FF0000"/>
                </a:solidFill>
              </a:rPr>
              <a:t>with animation 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192" name="Google Shape;192;p19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5" y="4869925"/>
            <a:ext cx="2478000" cy="13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4">
            <a:alphaModFix/>
          </a:blip>
          <a:srcRect l="16976" t="20382" r="18644" b="21646"/>
          <a:stretch/>
        </p:blipFill>
        <p:spPr>
          <a:xfrm>
            <a:off x="4952994" y="4645713"/>
            <a:ext cx="2665331" cy="183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449987" y="4985548"/>
            <a:ext cx="1154000" cy="11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25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0525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1638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0400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600" y="1510375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600" y="29697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>
            <a:off x="1094600" y="1545625"/>
            <a:ext cx="609600" cy="332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>
            <a:off x="26186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 rot="-5400000">
            <a:off x="18236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>
            <a:off x="41426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 rot="-5400000">
            <a:off x="33476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>
            <a:off x="57428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 rot="-5400000">
            <a:off x="49478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 rot="-5400000">
            <a:off x="6175287" y="2113163"/>
            <a:ext cx="609600" cy="81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7">
            <a:alphaModFix/>
          </a:blip>
          <a:srcRect l="11156" t="8598" r="61328" b="3751"/>
          <a:stretch/>
        </p:blipFill>
        <p:spPr>
          <a:xfrm rot="-5400000">
            <a:off x="3822862" y="1232237"/>
            <a:ext cx="609600" cy="54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8500" y="247125"/>
            <a:ext cx="5915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Detailed Circuit Diagram :  </a:t>
            </a:r>
            <a:endParaRPr sz="2200" b="1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" name="Picture 1" descr="A diagram of a computer chip&#10;&#10;Description automatically generated">
            <a:extLst>
              <a:ext uri="{FF2B5EF4-FFF2-40B4-BE49-F238E27FC236}">
                <a16:creationId xmlns:a16="http://schemas.microsoft.com/office/drawing/2014/main" id="{F2737708-1283-5DAD-C687-8BAECE4B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91" y="768226"/>
            <a:ext cx="8204755" cy="5106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457200" y="-191250"/>
            <a:ext cx="74676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resources Required</a:t>
            </a:r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body" idx="1"/>
          </p:nvPr>
        </p:nvSpPr>
        <p:spPr>
          <a:xfrm>
            <a:off x="457200" y="860250"/>
            <a:ext cx="7467600" cy="48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80670" algn="just" rtl="0">
              <a:spcBef>
                <a:spcPts val="0"/>
              </a:spcBef>
              <a:spcAft>
                <a:spcPts val="0"/>
              </a:spcAft>
              <a:buSzPts val="1780"/>
              <a:buChar char="🞆"/>
            </a:pPr>
            <a:r>
              <a:rPr lang="en-US" sz="2500"/>
              <a:t>Hardware with specification </a:t>
            </a:r>
            <a:endParaRPr sz="2500"/>
          </a:p>
          <a:p>
            <a:pPr marL="27432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232" name="Google Shape;232;p22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sldNum" idx="12"/>
          </p:nvPr>
        </p:nvSpPr>
        <p:spPr>
          <a:xfrm>
            <a:off x="7375829" y="6031293"/>
            <a:ext cx="549000" cy="44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74" y="1456825"/>
            <a:ext cx="3761010" cy="210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457174" y="3559262"/>
            <a:ext cx="32685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AutoNum type="arabicParenR"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ESP-32 Module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218184" y="3559262"/>
            <a:ext cx="32685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2) Servo Motors - MG995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088" y="1456825"/>
            <a:ext cx="2451373" cy="210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672757" y="6160164"/>
            <a:ext cx="354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3) Toy Motors and Wheels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74" y="4064344"/>
            <a:ext cx="3268549" cy="203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7798" y="4028807"/>
            <a:ext cx="2547933" cy="210243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4483371" y="6160164"/>
            <a:ext cx="2336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4) Jumper Cables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l="16976" t="20382" r="18644" b="21646"/>
          <a:stretch/>
        </p:blipFill>
        <p:spPr>
          <a:xfrm>
            <a:off x="370675" y="229650"/>
            <a:ext cx="4066751" cy="27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4">
            <a:alphaModFix/>
          </a:blip>
          <a:srcRect l="46822" b="50514"/>
          <a:stretch/>
        </p:blipFill>
        <p:spPr>
          <a:xfrm>
            <a:off x="4793226" y="76450"/>
            <a:ext cx="3335799" cy="31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650" y="3180625"/>
            <a:ext cx="3335800" cy="29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021650" y="2782275"/>
            <a:ext cx="27648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5) PS-4 Controller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4175125" y="33033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6) 3D Prints or Laser Cut Material 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496750" y="5977950"/>
            <a:ext cx="3243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7) PCB Breakout Board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>
            <a:spLocks noGrp="1"/>
          </p:cNvSpPr>
          <p:nvPr>
            <p:ph type="title"/>
          </p:nvPr>
        </p:nvSpPr>
        <p:spPr>
          <a:xfrm>
            <a:off x="457200" y="-327762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resources Required</a:t>
            </a:r>
            <a:endParaRPr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1"/>
          </p:nvPr>
        </p:nvSpPr>
        <p:spPr>
          <a:xfrm>
            <a:off x="457200" y="877050"/>
            <a:ext cx="7467600" cy="22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80670" algn="just" rtl="0">
              <a:spcBef>
                <a:spcPts val="0"/>
              </a:spcBef>
              <a:spcAft>
                <a:spcPts val="0"/>
              </a:spcAft>
              <a:buSzPts val="1780"/>
              <a:buChar char="🞆"/>
            </a:pPr>
            <a:r>
              <a:rPr lang="en-US" sz="2500"/>
              <a:t>Software with version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 </a:t>
            </a:r>
            <a:br>
              <a:rPr lang="en-US" sz="2500"/>
            </a:br>
            <a:endParaRPr sz="2500"/>
          </a:p>
        </p:txBody>
      </p:sp>
      <p:sp>
        <p:nvSpPr>
          <p:cNvPr id="260" name="Google Shape;260;p24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9150"/>
            <a:ext cx="3124350" cy="21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519263" y="3663775"/>
            <a:ext cx="30312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AutoNum type="arabicParenR"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Fusion 360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525" y="1349796"/>
            <a:ext cx="2501100" cy="129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088" y="2383430"/>
            <a:ext cx="3003937" cy="13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4659513" y="3429000"/>
            <a:ext cx="39351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2) KiCAD / Altium Designer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6" name="Google Shape;266;p24"/>
          <p:cNvSpPr txBox="1">
            <a:spLocks noGrp="1"/>
          </p:cNvSpPr>
          <p:nvPr>
            <p:ph type="sldNum" idx="12"/>
          </p:nvPr>
        </p:nvSpPr>
        <p:spPr>
          <a:xfrm>
            <a:off x="7151777" y="6407481"/>
            <a:ext cx="478500" cy="37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67" name="Google Shape;26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38" y="4184875"/>
            <a:ext cx="3093280" cy="1967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1009" y="4127038"/>
            <a:ext cx="3255816" cy="18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488238" y="6152225"/>
            <a:ext cx="30933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3) Arduino IDE 2.2.1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4358369" y="6056763"/>
            <a:ext cx="2501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4) SixAxisPairTool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title"/>
          </p:nvPr>
        </p:nvSpPr>
        <p:spPr>
          <a:xfrm>
            <a:off x="405213" y="-16755"/>
            <a:ext cx="74676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Gantt Chart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276" name="Google Shape;276;p25"/>
          <p:cNvSpPr txBox="1">
            <a:spLocks noGrp="1"/>
          </p:cNvSpPr>
          <p:nvPr>
            <p:ph type="dt" idx="10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8" name="Google Shape;278;p25"/>
          <p:cNvSpPr txBox="1">
            <a:spLocks noGrp="1"/>
          </p:cNvSpPr>
          <p:nvPr>
            <p:ph type="ftr" idx="11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 &lt;Class&gt;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179512" y="1384290"/>
            <a:ext cx="82238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3">
            <a:alphaModFix/>
          </a:blip>
          <a:srcRect l="37363" t="36906" r="19720" b="58646"/>
          <a:stretch/>
        </p:blipFill>
        <p:spPr>
          <a:xfrm>
            <a:off x="386075" y="688237"/>
            <a:ext cx="7810675" cy="6463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25"/>
          <p:cNvGraphicFramePr/>
          <p:nvPr/>
        </p:nvGraphicFramePr>
        <p:xfrm>
          <a:off x="386088" y="141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{BEE8FAEA-D83C-4EA9-A15C-F77C2DAE6D4F}</a:tableStyleId>
              </a:tblPr>
              <a:tblGrid>
                <a:gridCol w="4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4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8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Sr. No.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Task Name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Research &amp; Documentation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CAD Design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Research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Manufacturing Chassis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Development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2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Manufacturing Robotic Arm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Coding and Planning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Final Assembly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Assembly and Testing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Coding and Complete Integration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1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Final Assembly and Testing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>
            <a:spLocks noGrp="1"/>
          </p:cNvSpPr>
          <p:nvPr>
            <p:ph type="title"/>
          </p:nvPr>
        </p:nvSpPr>
        <p:spPr>
          <a:xfrm>
            <a:off x="457200" y="274644"/>
            <a:ext cx="74676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7" name="Google Shape;287;p26"/>
          <p:cNvSpPr txBox="1">
            <a:spLocks noGrp="1"/>
          </p:cNvSpPr>
          <p:nvPr>
            <p:ph type="body" idx="1"/>
          </p:nvPr>
        </p:nvSpPr>
        <p:spPr>
          <a:xfrm>
            <a:off x="457200" y="888425"/>
            <a:ext cx="7671900" cy="5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Mohd Ashiq Kamaril Yusoff's, Reza Ezuan Samin, Babul Salam Ksm Kader Ibrahim, “Wireless Mobile Robotic Arm”, ELSEVIER, ResearchGate,  December 2012, 1072-1078. </a:t>
            </a:r>
            <a:endParaRPr sz="2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https://iotdesignpro.com/articles/iot-based-robotic-arm-controlling-using-esp32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https://www.academia.edu/50180450/Design_and_implement_of_robotic_arm_and_control_of_moving_via_IoT_with_Arduino_ESP32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https://ozrobotics.com/shop/hiwonder-maxarm-robot-arm-powered-by-esp32-support-python-and-arduino-programming-standard-kit/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6"/>
              </a:rPr>
              <a:t>https://www.researchgate.net/publication/333886109_A_Cost-Efficient_Multipurpose_Service_Robot_using_Raspberry_Pi_and_6_DOF_Robotic_Arm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7"/>
              </a:rPr>
              <a:t>https://grabcad.com/library/robot-arm-83</a:t>
            </a:r>
            <a:r>
              <a:rPr lang="en-US" sz="2000"/>
              <a:t> 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8"/>
              </a:rPr>
              <a:t>https://docs.google.com/spreadsheets/d/1wXcu2AezT9oymwPx0rUag4GGjRIw_IFt9GSfBZX83_Y/edit#gid=0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88" name="Google Shape;288;p26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sldNum" idx="12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3072000" y="292110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>
                <a:solidFill>
                  <a:srgbClr val="FF99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Thanks</a:t>
            </a:r>
            <a:endParaRPr sz="5500" b="1">
              <a:solidFill>
                <a:srgbClr val="FF9900"/>
              </a:solidFill>
            </a:endParaRPr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00" y="228600"/>
            <a:ext cx="3780100" cy="259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75" y="3871575"/>
            <a:ext cx="3780100" cy="269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375" y="4050654"/>
            <a:ext cx="3780100" cy="258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28600"/>
            <a:ext cx="3469674" cy="269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Microsoft Office PowerPoint</Application>
  <PresentationFormat>On-screen Show (4:3)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Century Schoolbook</vt:lpstr>
      <vt:lpstr>Calibri</vt:lpstr>
      <vt:lpstr>Arial</vt:lpstr>
      <vt:lpstr>Noto Sans Symbols</vt:lpstr>
      <vt:lpstr>Roboto</vt:lpstr>
      <vt:lpstr>Oriel</vt:lpstr>
      <vt:lpstr>SCTR’s Pune Institute of Computer Technology, Pune electronics and Telecommunication engineering</vt:lpstr>
      <vt:lpstr>Introduction</vt:lpstr>
      <vt:lpstr>Literature survey</vt:lpstr>
      <vt:lpstr>Literature survey</vt:lpstr>
      <vt:lpstr>PowerPoint Presentation</vt:lpstr>
      <vt:lpstr>Objectives</vt:lpstr>
      <vt:lpstr>Block Diagram /working model  with animation </vt:lpstr>
      <vt:lpstr>PowerPoint Presentation</vt:lpstr>
      <vt:lpstr>PowerPoint Presentation</vt:lpstr>
      <vt:lpstr>resources Required</vt:lpstr>
      <vt:lpstr>PowerPoint Presentation</vt:lpstr>
      <vt:lpstr>resources Required</vt:lpstr>
      <vt:lpstr>Gantt Chart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SCTR’s Pune Institute of Computer Technology, Pune electronics and Telecommunication engineering</dc:title>
  <cp:lastModifiedBy>32113_VEDANT_23_24</cp:lastModifiedBy>
  <cp:revision>1</cp:revision>
  <dcterms:modified xsi:type="dcterms:W3CDTF">2024-05-05T07:46:43Z</dcterms:modified>
</cp:coreProperties>
</file>